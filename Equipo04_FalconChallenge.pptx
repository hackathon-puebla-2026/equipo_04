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3" r:id="rId7"/>
    <p:sldId id="261" r:id="rId8"/>
    <p:sldId id="264" r:id="rId9"/>
    <p:sldId id="265" r:id="rId10"/>
    <p:sldId id="266" r:id="rId11"/>
    <p:sldId id="267" r:id="rId12"/>
    <p:sldId id="262"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manualLayout>
          <c:layoutTarget val="inner"/>
          <c:xMode val="edge"/>
          <c:yMode val="edge"/>
          <c:x val="5.2604205724284467E-2"/>
          <c:y val="0.2178649237472767"/>
          <c:w val="0.89479158855143104"/>
          <c:h val="0.45851345787658898"/>
        </c:manualLayout>
      </c:layout>
      <c:barChart>
        <c:barDir val="bar"/>
        <c:grouping val="clustered"/>
        <c:varyColors val="0"/>
        <c:ser>
          <c:idx val="0"/>
          <c:order val="0"/>
          <c:tx>
            <c:strRef>
              <c:f>Sheet1!$B$1</c:f>
              <c:strCache>
                <c:ptCount val="1"/>
                <c:pt idx="0">
                  <c:v>SRS</c:v>
                </c:pt>
              </c:strCache>
            </c:strRef>
          </c:tx>
          <c:spPr>
            <a:solidFill>
              <a:srgbClr val="6B7A8D"/>
            </a:solidFill>
            <a:effectLst/>
          </c:spPr>
          <c:invertIfNegative val="0"/>
          <c:dPt>
            <c:idx val="0"/>
            <c:invertIfNegative val="0"/>
            <c:bubble3D val="0"/>
            <c:extLst>
              <c:ext xmlns:c16="http://schemas.microsoft.com/office/drawing/2014/chart" uri="{C3380CC4-5D6E-409C-BE32-E72D297353CC}">
                <c16:uniqueId val="{00000001-DB50-4508-8A63-8E178208C4D3}"/>
              </c:ext>
            </c:extLst>
          </c:dPt>
          <c:dPt>
            <c:idx val="1"/>
            <c:invertIfNegative val="0"/>
            <c:bubble3D val="0"/>
            <c:spPr>
              <a:solidFill>
                <a:srgbClr val="0E7C7B"/>
              </a:solidFill>
              <a:effectLst/>
            </c:spPr>
            <c:extLst>
              <c:ext xmlns:c16="http://schemas.microsoft.com/office/drawing/2014/chart" uri="{C3380CC4-5D6E-409C-BE32-E72D297353CC}">
                <c16:uniqueId val="{00000003-DB50-4508-8A63-8E178208C4D3}"/>
              </c:ext>
            </c:extLst>
          </c:dPt>
          <c:dLbls>
            <c:numFmt formatCode="#,##0" sourceLinked="0"/>
            <c:spPr>
              <a:noFill/>
              <a:ln>
                <a:noFill/>
              </a:ln>
              <a:effectLst/>
            </c:spPr>
            <c:txPr>
              <a:bodyPr/>
              <a:lstStyle/>
              <a:p>
                <a:pPr>
                  <a:defRPr sz="1100" b="0" i="0" u="none" strike="noStrike">
                    <a:solidFill>
                      <a:srgbClr val="FFFFFF"/>
                    </a:solidFill>
                    <a:latin typeface="Calibri"/>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Historical (u=0)</c:v>
                </c:pt>
                <c:pt idx="1">
                  <c:v>Threshold Rule (balanced)</c:v>
                </c:pt>
              </c:strCache>
            </c:strRef>
          </c:cat>
          <c:val>
            <c:numRef>
              <c:f>Sheet1!$B$2:$B$3</c:f>
              <c:numCache>
                <c:formatCode>General</c:formatCode>
                <c:ptCount val="2"/>
                <c:pt idx="0">
                  <c:v>-0.31153399999999998</c:v>
                </c:pt>
                <c:pt idx="1">
                  <c:v>-0.29042299999999999</c:v>
                </c:pt>
              </c:numCache>
            </c:numRef>
          </c:val>
          <c:extLst>
            <c:ext xmlns:c16="http://schemas.microsoft.com/office/drawing/2014/chart" uri="{C3380CC4-5D6E-409C-BE32-E72D297353CC}">
              <c16:uniqueId val="{00000004-DB50-4508-8A63-8E178208C4D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332"/>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73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04. Trabajo clásico: DP exacta y baseline de umbral.
Mencionar uso de IA al llegar a la sección de baselines.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C_crit dominates because the reservoir was below Smin during all 26 weeks of the analysis window. The optimizer's primary task is to redistribute releases to keep more water in the reservoir early.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derivation methods (scraping + storage/percentage) both give Smax = 3,288,726,000 m³ exactly. This is stored in falcon_reservoir_constants.json in the repo.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USO DE IA AQUÍ en voz: Claude (Anthropic) fue utilizado como herramienta de apoyo en documentación, derivaciones matemáticas y scaffolding de código. Los algoritmos, decisiones de diseño y resultados son del equipo.
Nota: la threshold_pure (sin reparar) viola el balance acumulado: retiene 72.9 Mm³ vs límite ±31.2 Mm³. La versión balanced la corrige automáticamente.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reduce by −Δu for the first 11 weeks to conserve water, then return to historical operation. The DP finds this is optimal because the balance constraint prevents retaining more.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T=12 y T=5 (debug): la política óptima es u*=0 para la ventana de datos disponible con L=3. Esto no es un error — la restricción de balance hace que las reducciones que se pueden lograr no mejoren el SRS cuando el horizonte es corto.
Brute force runtime en T=12: 4.93 s para 531,441 combinaciones. DP: ~0.004 s. Speedup de ~1,200x.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problema tiene estructura combinatoria clara y DP lo resuelve óptimamente en &lt; 0.1 s. La formulación QUBO ya está derivada (130 variables binarias, verificada matemáticamente) y lista para ejecutarse en hardware cuántico cuando esté disponible.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6E2AA17B-3D82-E15A-C174-4D4AF3AF0B43}"/>
              </a:ext>
            </a:extLst>
          </p:cNvPr>
          <p:cNvPicPr>
            <a:picLocks noChangeAspect="1"/>
          </p:cNvPicPr>
          <p:nvPr/>
        </p:nvPicPr>
        <p:blipFill>
          <a:blip r:embed="rId3"/>
          <a:srcRect l="2140" t="6837" r="2930" b="6878"/>
          <a:stretch>
            <a:fillRect/>
          </a:stretch>
        </p:blipFill>
        <p:spPr>
          <a:xfrm>
            <a:off x="4617720" y="868680"/>
            <a:ext cx="4149969" cy="2829013"/>
          </a:xfrm>
          <a:prstGeom prst="rect">
            <a:avLst/>
          </a:prstGeom>
        </p:spPr>
      </p:pic>
      <p:sp>
        <p:nvSpPr>
          <p:cNvPr id="2" name="Shape 0"/>
          <p:cNvSpPr/>
          <p:nvPr/>
        </p:nvSpPr>
        <p:spPr>
          <a:xfrm>
            <a:off x="7132320" y="0"/>
            <a:ext cx="2011680" cy="54864"/>
          </a:xfrm>
          <a:prstGeom prst="rect">
            <a:avLst/>
          </a:prstGeom>
          <a:solidFill>
            <a:srgbClr val="2DC9A4"/>
          </a:solidFill>
          <a:ln w="12700">
            <a:solidFill>
              <a:srgbClr val="2DC9A4"/>
            </a:solidFill>
            <a:prstDash val="solid"/>
          </a:ln>
        </p:spPr>
        <p:txBody>
          <a:bodyPr/>
          <a:lstStyle/>
          <a:p>
            <a:endParaRPr lang="es-MX"/>
          </a:p>
        </p:txBody>
      </p:sp>
      <p:sp>
        <p:nvSpPr>
          <p:cNvPr id="3" name="Shape 1"/>
          <p:cNvSpPr/>
          <p:nvPr/>
        </p:nvSpPr>
        <p:spPr>
          <a:xfrm>
            <a:off x="7772400" y="109728"/>
            <a:ext cx="1371600" cy="54864"/>
          </a:xfrm>
          <a:prstGeom prst="rect">
            <a:avLst/>
          </a:prstGeom>
          <a:solidFill>
            <a:srgbClr val="2E5FA3">
              <a:alpha val="60000"/>
            </a:srgbClr>
          </a:solidFill>
          <a:ln w="12700">
            <a:solidFill>
              <a:srgbClr val="2E5FA3"/>
            </a:solidFill>
            <a:prstDash val="solid"/>
          </a:ln>
        </p:spPr>
        <p:txBody>
          <a:bodyPr/>
          <a:lstStyle/>
          <a:p>
            <a:endParaRPr lang="es-MX"/>
          </a:p>
        </p:txBody>
      </p:sp>
      <p:sp>
        <p:nvSpPr>
          <p:cNvPr id="4" name="Shape 2"/>
          <p:cNvSpPr/>
          <p:nvPr/>
        </p:nvSpPr>
        <p:spPr>
          <a:xfrm>
            <a:off x="0" y="1234440"/>
            <a:ext cx="54864" cy="2926080"/>
          </a:xfrm>
          <a:prstGeom prst="rect">
            <a:avLst/>
          </a:prstGeom>
          <a:solidFill>
            <a:srgbClr val="2DC9A4"/>
          </a:solidFill>
          <a:ln w="12700">
            <a:solidFill>
              <a:srgbClr val="2DC9A4"/>
            </a:solidFill>
            <a:prstDash val="solid"/>
          </a:ln>
        </p:spPr>
        <p:txBody>
          <a:bodyPr/>
          <a:lstStyle/>
          <a:p>
            <a:endParaRPr lang="es-MX"/>
          </a:p>
        </p:txBody>
      </p:sp>
      <p:sp>
        <p:nvSpPr>
          <p:cNvPr id="5" name="Shape 3"/>
          <p:cNvSpPr/>
          <p:nvPr/>
        </p:nvSpPr>
        <p:spPr>
          <a:xfrm>
            <a:off x="320040" y="347472"/>
            <a:ext cx="1417320" cy="521208"/>
          </a:xfrm>
          <a:prstGeom prst="roundRect">
            <a:avLst>
              <a:gd name="adj" fmla="val 14286"/>
            </a:avLst>
          </a:prstGeom>
          <a:solidFill>
            <a:srgbClr val="2DC9A4"/>
          </a:solidFill>
          <a:ln w="12700">
            <a:solidFill>
              <a:srgbClr val="2DC9A4"/>
            </a:solidFill>
            <a:prstDash val="solid"/>
          </a:ln>
        </p:spPr>
        <p:txBody>
          <a:bodyPr/>
          <a:lstStyle/>
          <a:p>
            <a:endParaRPr lang="es-MX" sz="2400"/>
          </a:p>
        </p:txBody>
      </p:sp>
      <p:sp>
        <p:nvSpPr>
          <p:cNvPr id="6" name="Text 4"/>
          <p:cNvSpPr/>
          <p:nvPr/>
        </p:nvSpPr>
        <p:spPr>
          <a:xfrm>
            <a:off x="320040" y="391434"/>
            <a:ext cx="1417320" cy="384048"/>
          </a:xfrm>
          <a:prstGeom prst="rect">
            <a:avLst/>
          </a:prstGeom>
          <a:noFill/>
          <a:ln/>
        </p:spPr>
        <p:txBody>
          <a:bodyPr wrap="square"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Team 04: </a:t>
            </a:r>
            <a:r>
              <a:rPr lang="en-US" sz="1600" b="1" dirty="0" err="1">
                <a:solidFill>
                  <a:srgbClr val="0A1628"/>
                </a:solidFill>
                <a:latin typeface="Calibri" pitchFamily="34" charset="0"/>
                <a:ea typeface="Calibri" pitchFamily="34" charset="-122"/>
                <a:cs typeface="Calibri" pitchFamily="34" charset="-120"/>
              </a:rPr>
              <a:t>QFalcon</a:t>
            </a:r>
            <a:endParaRPr lang="en-US" sz="1600" dirty="0"/>
          </a:p>
        </p:txBody>
      </p:sp>
      <p:sp>
        <p:nvSpPr>
          <p:cNvPr id="7" name="Shape 5"/>
          <p:cNvSpPr/>
          <p:nvPr/>
        </p:nvSpPr>
        <p:spPr>
          <a:xfrm>
            <a:off x="1874520" y="347472"/>
            <a:ext cx="2743200" cy="384048"/>
          </a:xfrm>
          <a:prstGeom prst="roundRect">
            <a:avLst>
              <a:gd name="adj" fmla="val 14286"/>
            </a:avLst>
          </a:prstGeom>
          <a:solidFill>
            <a:srgbClr val="FFFFFF">
              <a:alpha val="12000"/>
            </a:srgbClr>
          </a:solidFill>
          <a:ln w="10160">
            <a:solidFill>
              <a:srgbClr val="2E5FA3"/>
            </a:solidFill>
            <a:prstDash val="solid"/>
          </a:ln>
        </p:spPr>
        <p:txBody>
          <a:bodyPr/>
          <a:lstStyle/>
          <a:p>
            <a:endParaRPr lang="es-MX"/>
          </a:p>
        </p:txBody>
      </p:sp>
      <p:sp>
        <p:nvSpPr>
          <p:cNvPr id="8" name="Text 6"/>
          <p:cNvSpPr/>
          <p:nvPr/>
        </p:nvSpPr>
        <p:spPr>
          <a:xfrm>
            <a:off x="1874520" y="347472"/>
            <a:ext cx="2743200" cy="384048"/>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OQI Hackathon 2026  ·  BUAP  ·  Puebla</a:t>
            </a:r>
            <a:endParaRPr lang="en-US" sz="1000" dirty="0"/>
          </a:p>
        </p:txBody>
      </p:sp>
      <p:sp>
        <p:nvSpPr>
          <p:cNvPr id="9" name="Text 7"/>
          <p:cNvSpPr/>
          <p:nvPr/>
        </p:nvSpPr>
        <p:spPr>
          <a:xfrm>
            <a:off x="320040" y="1143000"/>
            <a:ext cx="8503920" cy="960120"/>
          </a:xfrm>
          <a:prstGeom prst="rect">
            <a:avLst/>
          </a:prstGeom>
          <a:noFill/>
          <a:ln/>
        </p:spPr>
        <p:txBody>
          <a:bodyPr wrap="square"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Resilient Release Scheduling</a:t>
            </a:r>
            <a:endParaRPr lang="en-US" sz="4600" dirty="0"/>
          </a:p>
        </p:txBody>
      </p:sp>
      <p:sp>
        <p:nvSpPr>
          <p:cNvPr id="10" name="Text 8"/>
          <p:cNvSpPr/>
          <p:nvPr/>
        </p:nvSpPr>
        <p:spPr>
          <a:xfrm>
            <a:off x="320040" y="2231136"/>
            <a:ext cx="8503920" cy="548640"/>
          </a:xfrm>
          <a:prstGeom prst="rect">
            <a:avLst/>
          </a:prstGeom>
          <a:noFill/>
          <a:ln/>
        </p:spPr>
        <p:txBody>
          <a:bodyPr wrap="square" rtlCol="0" anchor="ctr"/>
          <a:lstStyle/>
          <a:p>
            <a:pPr marL="0" indent="0">
              <a:buNone/>
            </a:pPr>
            <a:r>
              <a:rPr lang="en-US" sz="2400" i="1" dirty="0">
                <a:solidFill>
                  <a:srgbClr val="2DC9A4"/>
                </a:solidFill>
                <a:latin typeface="Georgia" pitchFamily="34" charset="0"/>
                <a:ea typeface="Georgia" pitchFamily="34" charset="-122"/>
                <a:cs typeface="Georgia" pitchFamily="34" charset="-120"/>
              </a:rPr>
              <a:t>for the International Falcon Reservoir</a:t>
            </a:r>
            <a:endParaRPr lang="en-US" sz="2400" dirty="0"/>
          </a:p>
        </p:txBody>
      </p:sp>
      <p:sp>
        <p:nvSpPr>
          <p:cNvPr id="11" name="Shape 9"/>
          <p:cNvSpPr/>
          <p:nvPr/>
        </p:nvSpPr>
        <p:spPr>
          <a:xfrm>
            <a:off x="320040" y="2761488"/>
            <a:ext cx="4572000" cy="36576"/>
          </a:xfrm>
          <a:prstGeom prst="rect">
            <a:avLst/>
          </a:prstGeom>
          <a:solidFill>
            <a:srgbClr val="2E5FA3">
              <a:alpha val="80000"/>
            </a:srgbClr>
          </a:solidFill>
          <a:ln w="12700">
            <a:solidFill>
              <a:srgbClr val="2E5FA3"/>
            </a:solidFill>
            <a:prstDash val="solid"/>
          </a:ln>
        </p:spPr>
        <p:txBody>
          <a:bodyPr/>
          <a:lstStyle/>
          <a:p>
            <a:endParaRPr lang="es-MX"/>
          </a:p>
        </p:txBody>
      </p:sp>
      <p:sp>
        <p:nvSpPr>
          <p:cNvPr id="12" name="Text 10"/>
          <p:cNvSpPr/>
          <p:nvPr/>
        </p:nvSpPr>
        <p:spPr>
          <a:xfrm>
            <a:off x="320040" y="2880360"/>
            <a:ext cx="5954151" cy="731520"/>
          </a:xfrm>
          <a:prstGeom prst="rect">
            <a:avLst/>
          </a:prstGeom>
          <a:noFill/>
          <a:ln/>
        </p:spPr>
        <p:txBody>
          <a:bodyPr wrap="square" rtlCol="0" anchor="ctr"/>
          <a:lstStyle/>
          <a:p>
            <a:pPr marL="0" indent="0">
              <a:buNone/>
            </a:pPr>
            <a:r>
              <a:rPr lang="en-US" sz="1300" dirty="0">
                <a:solidFill>
                  <a:srgbClr val="AABBCC"/>
                </a:solidFill>
                <a:latin typeface="Calibri" pitchFamily="34" charset="0"/>
                <a:ea typeface="Calibri" pitchFamily="34" charset="-122"/>
                <a:cs typeface="Calibri" pitchFamily="34" charset="-120"/>
              </a:rPr>
              <a:t>Classical Optimization for Transboundary Water Management</a:t>
            </a:r>
            <a:endParaRPr lang="en-US" sz="1300" dirty="0"/>
          </a:p>
          <a:p>
            <a:pPr marL="0" indent="0">
              <a:buNone/>
            </a:pPr>
            <a:r>
              <a:rPr lang="en-US" sz="1300" dirty="0">
                <a:solidFill>
                  <a:srgbClr val="AABBCC"/>
                </a:solidFill>
                <a:latin typeface="Calibri" pitchFamily="34" charset="0"/>
                <a:ea typeface="Calibri" pitchFamily="34" charset="-122"/>
                <a:cs typeface="Calibri" pitchFamily="34" charset="-120"/>
              </a:rPr>
              <a:t>Río Grande / Río Bravo Basin  ·  SDG 6.4  ·  SDG 6.5  ·  SDG 13.1</a:t>
            </a:r>
            <a:endParaRPr lang="en-US" sz="1300" dirty="0"/>
          </a:p>
        </p:txBody>
      </p:sp>
      <p:sp>
        <p:nvSpPr>
          <p:cNvPr id="13" name="Shape 11"/>
          <p:cNvSpPr/>
          <p:nvPr/>
        </p:nvSpPr>
        <p:spPr>
          <a:xfrm>
            <a:off x="320040" y="3840480"/>
            <a:ext cx="2468880" cy="914400"/>
          </a:xfrm>
          <a:prstGeom prst="roundRect">
            <a:avLst>
              <a:gd name="adj" fmla="val 10000"/>
            </a:avLst>
          </a:prstGeom>
          <a:solidFill>
            <a:srgbClr val="FFFFFF">
              <a:alpha val="8000"/>
            </a:srgbClr>
          </a:solidFill>
          <a:ln w="12700">
            <a:solidFill>
              <a:srgbClr val="2E5FA3"/>
            </a:solidFill>
            <a:prstDash val="solid"/>
          </a:ln>
        </p:spPr>
        <p:txBody>
          <a:bodyPr/>
          <a:lstStyle/>
          <a:p>
            <a:endParaRPr lang="es-MX"/>
          </a:p>
        </p:txBody>
      </p:sp>
      <p:sp>
        <p:nvSpPr>
          <p:cNvPr id="14" name="Text 12"/>
          <p:cNvSpPr/>
          <p:nvPr/>
        </p:nvSpPr>
        <p:spPr>
          <a:xfrm>
            <a:off x="320040" y="3858768"/>
            <a:ext cx="2468880" cy="530352"/>
          </a:xfrm>
          <a:prstGeom prst="rect">
            <a:avLst/>
          </a:prstGeom>
          <a:noFill/>
          <a:ln/>
        </p:spPr>
        <p:txBody>
          <a:bodyPr wrap="square" rtlCol="0" anchor="b"/>
          <a:lstStyle/>
          <a:p>
            <a:pPr marL="0" indent="0" algn="ctr">
              <a:buNone/>
            </a:pPr>
            <a:r>
              <a:rPr lang="en-US" sz="2800" b="1" dirty="0">
                <a:solidFill>
                  <a:srgbClr val="2DC9A4"/>
                </a:solidFill>
                <a:latin typeface="Georgia" pitchFamily="34" charset="0"/>
                <a:ea typeface="Georgia" pitchFamily="34" charset="-122"/>
                <a:cs typeface="Georgia" pitchFamily="34" charset="-120"/>
              </a:rPr>
              <a:t>26</a:t>
            </a:r>
            <a:endParaRPr lang="en-US" sz="2800" dirty="0"/>
          </a:p>
        </p:txBody>
      </p:sp>
      <p:sp>
        <p:nvSpPr>
          <p:cNvPr id="15" name="Text 13"/>
          <p:cNvSpPr/>
          <p:nvPr/>
        </p:nvSpPr>
        <p:spPr>
          <a:xfrm>
            <a:off x="320040" y="4407408"/>
            <a:ext cx="2468880" cy="292608"/>
          </a:xfrm>
          <a:prstGeom prst="rect">
            <a:avLst/>
          </a:prstGeom>
          <a:noFill/>
          <a:ln/>
        </p:spPr>
        <p:txBody>
          <a:bodyPr wrap="square" rtlCol="0" anchor="t"/>
          <a:lstStyle/>
          <a:p>
            <a:pPr marL="0" indent="0" algn="ctr">
              <a:buNone/>
            </a:pPr>
            <a:r>
              <a:rPr lang="en-US" sz="1050" dirty="0">
                <a:solidFill>
                  <a:srgbClr val="8899AA"/>
                </a:solidFill>
                <a:latin typeface="Calibri" pitchFamily="34" charset="0"/>
                <a:ea typeface="Calibri" pitchFamily="34" charset="-122"/>
                <a:cs typeface="Calibri" pitchFamily="34" charset="-120"/>
              </a:rPr>
              <a:t>Weeks optimized</a:t>
            </a:r>
            <a:endParaRPr lang="en-US" sz="1050" dirty="0"/>
          </a:p>
        </p:txBody>
      </p:sp>
      <p:sp>
        <p:nvSpPr>
          <p:cNvPr id="16" name="Shape 14"/>
          <p:cNvSpPr/>
          <p:nvPr/>
        </p:nvSpPr>
        <p:spPr>
          <a:xfrm>
            <a:off x="3154680" y="3840480"/>
            <a:ext cx="2468880" cy="914400"/>
          </a:xfrm>
          <a:prstGeom prst="roundRect">
            <a:avLst>
              <a:gd name="adj" fmla="val 10000"/>
            </a:avLst>
          </a:prstGeom>
          <a:solidFill>
            <a:srgbClr val="FFFFFF">
              <a:alpha val="8000"/>
            </a:srgbClr>
          </a:solidFill>
          <a:ln w="12700">
            <a:solidFill>
              <a:srgbClr val="2E5FA3"/>
            </a:solidFill>
            <a:prstDash val="solid"/>
          </a:ln>
        </p:spPr>
        <p:txBody>
          <a:bodyPr/>
          <a:lstStyle/>
          <a:p>
            <a:endParaRPr lang="es-MX"/>
          </a:p>
        </p:txBody>
      </p:sp>
      <p:sp>
        <p:nvSpPr>
          <p:cNvPr id="17" name="Text 15"/>
          <p:cNvSpPr/>
          <p:nvPr/>
        </p:nvSpPr>
        <p:spPr>
          <a:xfrm>
            <a:off x="3154680" y="3858768"/>
            <a:ext cx="2468880" cy="530352"/>
          </a:xfrm>
          <a:prstGeom prst="rect">
            <a:avLst/>
          </a:prstGeom>
          <a:noFill/>
          <a:ln/>
        </p:spPr>
        <p:txBody>
          <a:bodyPr wrap="square" rtlCol="0" anchor="b"/>
          <a:lstStyle/>
          <a:p>
            <a:pPr marL="0" indent="0" algn="ctr">
              <a:buNone/>
            </a:pPr>
            <a:r>
              <a:rPr lang="en-US" sz="2800" b="1" dirty="0">
                <a:solidFill>
                  <a:srgbClr val="2DC9A4"/>
                </a:solidFill>
                <a:latin typeface="Georgia" pitchFamily="34" charset="0"/>
                <a:ea typeface="Georgia" pitchFamily="34" charset="-122"/>
                <a:cs typeface="Georgia" pitchFamily="34" charset="-120"/>
              </a:rPr>
              <a:t>+0.021</a:t>
            </a:r>
            <a:endParaRPr lang="en-US" sz="2800" dirty="0"/>
          </a:p>
        </p:txBody>
      </p:sp>
      <p:sp>
        <p:nvSpPr>
          <p:cNvPr id="18" name="Text 16"/>
          <p:cNvSpPr/>
          <p:nvPr/>
        </p:nvSpPr>
        <p:spPr>
          <a:xfrm>
            <a:off x="3154680" y="4407408"/>
            <a:ext cx="2468880" cy="292608"/>
          </a:xfrm>
          <a:prstGeom prst="rect">
            <a:avLst/>
          </a:prstGeom>
          <a:noFill/>
          <a:ln/>
        </p:spPr>
        <p:txBody>
          <a:bodyPr wrap="square" rtlCol="0" anchor="t"/>
          <a:lstStyle/>
          <a:p>
            <a:pPr marL="0" indent="0" algn="ctr">
              <a:buNone/>
            </a:pPr>
            <a:r>
              <a:rPr lang="en-US" sz="1050" dirty="0">
                <a:solidFill>
                  <a:srgbClr val="8899AA"/>
                </a:solidFill>
                <a:latin typeface="Calibri" pitchFamily="34" charset="0"/>
                <a:ea typeface="Calibri" pitchFamily="34" charset="-122"/>
                <a:cs typeface="Calibri" pitchFamily="34" charset="-120"/>
              </a:rPr>
              <a:t>ΔSRS achieved</a:t>
            </a:r>
            <a:endParaRPr lang="en-US" sz="1050" dirty="0"/>
          </a:p>
        </p:txBody>
      </p:sp>
      <p:sp>
        <p:nvSpPr>
          <p:cNvPr id="19" name="Shape 17"/>
          <p:cNvSpPr/>
          <p:nvPr/>
        </p:nvSpPr>
        <p:spPr>
          <a:xfrm>
            <a:off x="5989320" y="3840480"/>
            <a:ext cx="2468880" cy="914400"/>
          </a:xfrm>
          <a:prstGeom prst="roundRect">
            <a:avLst>
              <a:gd name="adj" fmla="val 10000"/>
            </a:avLst>
          </a:prstGeom>
          <a:solidFill>
            <a:srgbClr val="FFFFFF">
              <a:alpha val="8000"/>
            </a:srgbClr>
          </a:solidFill>
          <a:ln w="12700">
            <a:solidFill>
              <a:srgbClr val="2E5FA3"/>
            </a:solidFill>
            <a:prstDash val="solid"/>
          </a:ln>
        </p:spPr>
        <p:txBody>
          <a:bodyPr/>
          <a:lstStyle/>
          <a:p>
            <a:endParaRPr lang="es-MX"/>
          </a:p>
        </p:txBody>
      </p:sp>
      <p:sp>
        <p:nvSpPr>
          <p:cNvPr id="20" name="Text 18"/>
          <p:cNvSpPr/>
          <p:nvPr/>
        </p:nvSpPr>
        <p:spPr>
          <a:xfrm>
            <a:off x="5989320" y="3858768"/>
            <a:ext cx="2468880" cy="530352"/>
          </a:xfrm>
          <a:prstGeom prst="rect">
            <a:avLst/>
          </a:prstGeom>
          <a:noFill/>
          <a:ln/>
        </p:spPr>
        <p:txBody>
          <a:bodyPr wrap="square" rtlCol="0" anchor="b"/>
          <a:lstStyle/>
          <a:p>
            <a:pPr marL="0" indent="0" algn="ctr">
              <a:buNone/>
            </a:pPr>
            <a:r>
              <a:rPr lang="en-US" sz="2800" b="1" dirty="0">
                <a:solidFill>
                  <a:srgbClr val="2DC9A4"/>
                </a:solidFill>
                <a:latin typeface="Georgia" pitchFamily="34" charset="0"/>
                <a:ea typeface="Georgia" pitchFamily="34" charset="-122"/>
                <a:cs typeface="Georgia" pitchFamily="34" charset="-120"/>
              </a:rPr>
              <a:t>0.020 s</a:t>
            </a:r>
            <a:endParaRPr lang="en-US" sz="2800" dirty="0"/>
          </a:p>
        </p:txBody>
      </p:sp>
      <p:sp>
        <p:nvSpPr>
          <p:cNvPr id="21" name="Text 19"/>
          <p:cNvSpPr/>
          <p:nvPr/>
        </p:nvSpPr>
        <p:spPr>
          <a:xfrm>
            <a:off x="5989320" y="4407408"/>
            <a:ext cx="2468880" cy="292608"/>
          </a:xfrm>
          <a:prstGeom prst="rect">
            <a:avLst/>
          </a:prstGeom>
          <a:noFill/>
          <a:ln/>
        </p:spPr>
        <p:txBody>
          <a:bodyPr wrap="square" rtlCol="0" anchor="t"/>
          <a:lstStyle/>
          <a:p>
            <a:pPr marL="0" indent="0" algn="ctr">
              <a:buNone/>
            </a:pPr>
            <a:r>
              <a:rPr lang="en-US" sz="1050" dirty="0">
                <a:solidFill>
                  <a:srgbClr val="8899AA"/>
                </a:solidFill>
                <a:latin typeface="Calibri" pitchFamily="34" charset="0"/>
                <a:ea typeface="Calibri" pitchFamily="34" charset="-122"/>
                <a:cs typeface="Calibri" pitchFamily="34" charset="-120"/>
              </a:rPr>
              <a:t>DP runtime</a:t>
            </a:r>
            <a:endParaRPr lang="en-US" sz="1050" dirty="0"/>
          </a:p>
        </p:txBody>
      </p:sp>
      <p:sp>
        <p:nvSpPr>
          <p:cNvPr id="22" name="Shape 20"/>
          <p:cNvSpPr/>
          <p:nvPr/>
        </p:nvSpPr>
        <p:spPr>
          <a:xfrm>
            <a:off x="0" y="5029200"/>
            <a:ext cx="9144000" cy="228600"/>
          </a:xfrm>
          <a:prstGeom prst="rect">
            <a:avLst/>
          </a:prstGeom>
          <a:solidFill>
            <a:srgbClr val="1B3A6B">
              <a:alpha val="60000"/>
            </a:srgbClr>
          </a:solidFill>
          <a:ln w="12700">
            <a:solidFill>
              <a:srgbClr val="1B3A6B"/>
            </a:solidFill>
            <a:prstDash val="solid"/>
          </a:ln>
        </p:spPr>
        <p:txBody>
          <a:bodyPr/>
          <a:lstStyle/>
          <a:p>
            <a:endParaRPr lang="es-MX"/>
          </a:p>
        </p:txBody>
      </p:sp>
      <p:sp>
        <p:nvSpPr>
          <p:cNvPr id="23" name="Text 21"/>
          <p:cNvSpPr/>
          <p:nvPr/>
        </p:nvSpPr>
        <p:spPr>
          <a:xfrm>
            <a:off x="320040" y="5047488"/>
            <a:ext cx="8503920" cy="201168"/>
          </a:xfrm>
          <a:prstGeom prst="rect">
            <a:avLst/>
          </a:prstGeom>
          <a:noFill/>
          <a:ln/>
        </p:spPr>
        <p:txBody>
          <a:bodyPr wrap="square" rtlCol="0" anchor="ctr"/>
          <a:lstStyle/>
          <a:p>
            <a:pPr marL="0" indent="0" algn="r">
              <a:buNone/>
            </a:pPr>
            <a:r>
              <a:rPr lang="en-US" sz="900" dirty="0">
                <a:solidFill>
                  <a:srgbClr val="677A90"/>
                </a:solidFill>
                <a:latin typeface="Calibri" pitchFamily="34" charset="0"/>
                <a:ea typeface="Calibri" pitchFamily="34" charset="-122"/>
                <a:cs typeface="Calibri" pitchFamily="34" charset="-120"/>
              </a:rPr>
              <a:t>Hackathon-Puebla-2026 / Equipo_04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txBody>
          <a:bodyPr/>
          <a:lstStyle/>
          <a:p>
            <a:endParaRPr lang="es-MX"/>
          </a:p>
        </p:txBody>
      </p:sp>
      <p:sp>
        <p:nvSpPr>
          <p:cNvPr id="3" name="Shape 1"/>
          <p:cNvSpPr/>
          <p:nvPr/>
        </p:nvSpPr>
        <p:spPr>
          <a:xfrm>
            <a:off x="0" y="804672"/>
            <a:ext cx="9144000" cy="64008"/>
          </a:xfrm>
          <a:prstGeom prst="rect">
            <a:avLst/>
          </a:prstGeom>
          <a:solidFill>
            <a:srgbClr val="2DC9A4"/>
          </a:solidFill>
          <a:ln w="12700">
            <a:solidFill>
              <a:srgbClr val="2DC9A4"/>
            </a:solidFill>
            <a:prstDash val="solid"/>
          </a:ln>
        </p:spPr>
        <p:txBody>
          <a:bodyPr/>
          <a:lstStyle/>
          <a:p>
            <a:endParaRPr lang="es-MX"/>
          </a:p>
        </p:txBody>
      </p:sp>
      <p:sp>
        <p:nvSpPr>
          <p:cNvPr id="4" name="Text 2"/>
          <p:cNvSpPr/>
          <p:nvPr/>
        </p:nvSpPr>
        <p:spPr>
          <a:xfrm>
            <a:off x="457200" y="0"/>
            <a:ext cx="6858000" cy="8686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Problem Formulation</a:t>
            </a:r>
            <a:endParaRPr lang="en-US" sz="2600" dirty="0"/>
          </a:p>
        </p:txBody>
      </p:sp>
      <p:sp>
        <p:nvSpPr>
          <p:cNvPr id="6" name="Text 4"/>
          <p:cNvSpPr/>
          <p:nvPr/>
        </p:nvSpPr>
        <p:spPr>
          <a:xfrm>
            <a:off x="457200" y="1005840"/>
            <a:ext cx="3931920" cy="347472"/>
          </a:xfrm>
          <a:prstGeom prst="rect">
            <a:avLst/>
          </a:prstGeom>
          <a:noFill/>
          <a:ln/>
        </p:spPr>
        <p:txBody>
          <a:bodyPr wrap="square" rtlCol="0" anchor="ctr"/>
          <a:lstStyle/>
          <a:p>
            <a:pPr marL="0" indent="0">
              <a:buNone/>
            </a:pPr>
            <a:r>
              <a:rPr lang="en-US" sz="1600" b="1" dirty="0">
                <a:solidFill>
                  <a:srgbClr val="1B3A6B"/>
                </a:solidFill>
                <a:latin typeface="Georgia" pitchFamily="34" charset="0"/>
                <a:ea typeface="Georgia" pitchFamily="34" charset="-122"/>
                <a:cs typeface="Georgia" pitchFamily="34" charset="-120"/>
              </a:rPr>
              <a:t>The </a:t>
            </a:r>
            <a:r>
              <a:rPr lang="en-US" b="1" dirty="0">
                <a:solidFill>
                  <a:srgbClr val="1B3A6B"/>
                </a:solidFill>
                <a:latin typeface="Georgia" pitchFamily="34" charset="0"/>
                <a:ea typeface="Georgia" pitchFamily="34" charset="-122"/>
                <a:cs typeface="Georgia" pitchFamily="34" charset="-120"/>
              </a:rPr>
              <a:t>Challenge</a:t>
            </a:r>
            <a:endParaRPr lang="en-US" sz="1600" dirty="0"/>
          </a:p>
        </p:txBody>
      </p:sp>
      <p:sp>
        <p:nvSpPr>
          <p:cNvPr id="7" name="Text 5"/>
          <p:cNvSpPr/>
          <p:nvPr/>
        </p:nvSpPr>
        <p:spPr>
          <a:xfrm>
            <a:off x="457200" y="1325880"/>
            <a:ext cx="3977640" cy="2377440"/>
          </a:xfrm>
          <a:prstGeom prst="rect">
            <a:avLst/>
          </a:prstGeom>
          <a:noFill/>
          <a:ln/>
        </p:spPr>
        <p:txBody>
          <a:bodyPr wrap="square" rtlCol="0" anchor="ctr"/>
          <a:lstStyle/>
          <a:p>
            <a:pPr marL="0" indent="0">
              <a:buNone/>
            </a:pPr>
            <a:r>
              <a:rPr lang="en-US" sz="1400" dirty="0">
                <a:solidFill>
                  <a:srgbClr val="1A2332"/>
                </a:solidFill>
                <a:latin typeface="Calibri" pitchFamily="34" charset="0"/>
                <a:ea typeface="Calibri" pitchFamily="34" charset="-122"/>
                <a:cs typeface="Calibri" pitchFamily="34" charset="-120"/>
              </a:rPr>
              <a:t>The International Falcon Reservoir (Mexico–USA, Río Grande/Bravo) operated at critically low storage throughout 2025–2026 — below 12 % of design capacity.</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Decision variable: the weekly release adjustment u(t), so that the optimized release is</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     R(t) = </a:t>
            </a:r>
            <a:r>
              <a:rPr lang="en-US" sz="1400" dirty="0" err="1">
                <a:solidFill>
                  <a:srgbClr val="1A2332"/>
                </a:solidFill>
                <a:latin typeface="Calibri" pitchFamily="34" charset="0"/>
                <a:ea typeface="Calibri" pitchFamily="34" charset="-122"/>
                <a:cs typeface="Calibri" pitchFamily="34" charset="-120"/>
              </a:rPr>
              <a:t>R_obs</a:t>
            </a:r>
            <a:r>
              <a:rPr lang="en-US" sz="1400" dirty="0">
                <a:solidFill>
                  <a:srgbClr val="1A2332"/>
                </a:solidFill>
                <a:latin typeface="Calibri" pitchFamily="34" charset="0"/>
                <a:ea typeface="Calibri" pitchFamily="34" charset="-122"/>
                <a:cs typeface="Calibri" pitchFamily="34" charset="-120"/>
              </a:rPr>
              <a:t>(t) + u(t)</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where u(t) = 0 reproduces historical operation.</a:t>
            </a:r>
            <a:endParaRPr lang="en-US" sz="1400" dirty="0"/>
          </a:p>
        </p:txBody>
      </p:sp>
      <p:sp>
        <p:nvSpPr>
          <p:cNvPr id="8" name="Shape 6"/>
          <p:cNvSpPr/>
          <p:nvPr/>
        </p:nvSpPr>
        <p:spPr>
          <a:xfrm>
            <a:off x="457200" y="3840480"/>
            <a:ext cx="3977640" cy="1005840"/>
          </a:xfrm>
          <a:prstGeom prst="roundRect">
            <a:avLst>
              <a:gd name="adj" fmla="val 9091"/>
            </a:avLst>
          </a:prstGeom>
          <a:solidFill>
            <a:srgbClr val="EAF2FB"/>
          </a:solidFill>
          <a:ln w="15240">
            <a:solidFill>
              <a:srgbClr val="2E5FA3"/>
            </a:solidFill>
            <a:prstDash val="solid"/>
          </a:ln>
          <a:effectLst>
            <a:outerShdw blurRad="76200" dist="25400" dir="2700000" algn="bl" rotWithShape="0">
              <a:srgbClr val="000000">
                <a:alpha val="10000"/>
              </a:srgbClr>
            </a:outerShdw>
          </a:effectLst>
        </p:spPr>
        <p:txBody>
          <a:bodyPr/>
          <a:lstStyle/>
          <a:p>
            <a:endParaRPr lang="es-MX"/>
          </a:p>
        </p:txBody>
      </p:sp>
      <p:sp>
        <p:nvSpPr>
          <p:cNvPr id="9" name="Text 7"/>
          <p:cNvSpPr/>
          <p:nvPr/>
        </p:nvSpPr>
        <p:spPr>
          <a:xfrm>
            <a:off x="594360" y="3904488"/>
            <a:ext cx="3657600" cy="256032"/>
          </a:xfrm>
          <a:prstGeom prst="rect">
            <a:avLst/>
          </a:prstGeom>
          <a:noFill/>
          <a:ln/>
        </p:spPr>
        <p:txBody>
          <a:bodyPr wrap="square" rtlCol="0" anchor="ctr"/>
          <a:lstStyle/>
          <a:p>
            <a:pPr marL="0" indent="0">
              <a:buNone/>
            </a:pPr>
            <a:r>
              <a:rPr lang="en-US" sz="950" b="1" dirty="0">
                <a:solidFill>
                  <a:srgbClr val="2E5FA3"/>
                </a:solidFill>
                <a:latin typeface="Calibri" pitchFamily="34" charset="0"/>
                <a:ea typeface="Calibri" pitchFamily="34" charset="-122"/>
                <a:cs typeface="Calibri" pitchFamily="34" charset="-120"/>
              </a:rPr>
              <a:t>Storage Resilience Score (objective)</a:t>
            </a:r>
            <a:endParaRPr lang="en-US" sz="950" dirty="0"/>
          </a:p>
        </p:txBody>
      </p:sp>
      <p:sp>
        <p:nvSpPr>
          <p:cNvPr id="10" name="Text 8"/>
          <p:cNvSpPr/>
          <p:nvPr/>
        </p:nvSpPr>
        <p:spPr>
          <a:xfrm>
            <a:off x="594360" y="4160520"/>
            <a:ext cx="3657600" cy="320040"/>
          </a:xfrm>
          <a:prstGeom prst="rect">
            <a:avLst/>
          </a:prstGeom>
          <a:noFill/>
          <a:ln/>
        </p:spPr>
        <p:txBody>
          <a:bodyPr wrap="square" rtlCol="0" anchor="ctr"/>
          <a:lstStyle/>
          <a:p>
            <a:pPr marL="0" indent="0">
              <a:buNone/>
            </a:pPr>
            <a:r>
              <a:rPr lang="en-US" sz="1250" b="1" dirty="0">
                <a:solidFill>
                  <a:srgbClr val="0A1628"/>
                </a:solidFill>
                <a:latin typeface="Courier New" pitchFamily="34" charset="0"/>
                <a:ea typeface="Courier New" pitchFamily="34" charset="-122"/>
                <a:cs typeface="Courier New" pitchFamily="34" charset="-120"/>
              </a:rPr>
              <a:t>SRS = −(w₁·C_crit + w₂·C_dev + w₃·C_smooth)</a:t>
            </a:r>
            <a:endParaRPr lang="en-US" sz="1250" dirty="0"/>
          </a:p>
        </p:txBody>
      </p:sp>
      <p:sp>
        <p:nvSpPr>
          <p:cNvPr id="11" name="Text 9"/>
          <p:cNvSpPr/>
          <p:nvPr/>
        </p:nvSpPr>
        <p:spPr>
          <a:xfrm>
            <a:off x="594360" y="4498848"/>
            <a:ext cx="3657600" cy="256032"/>
          </a:xfrm>
          <a:prstGeom prst="rect">
            <a:avLst/>
          </a:prstGeom>
          <a:noFill/>
          <a:ln/>
        </p:spPr>
        <p:txBody>
          <a:bodyPr wrap="square" rtlCol="0" anchor="ctr"/>
          <a:lstStyle/>
          <a:p>
            <a:pPr marL="0" indent="0">
              <a:buNone/>
            </a:pPr>
            <a:r>
              <a:rPr lang="en-US" sz="1000" i="1" dirty="0">
                <a:solidFill>
                  <a:srgbClr val="6B7A8D"/>
                </a:solidFill>
                <a:latin typeface="Calibri" pitchFamily="34" charset="0"/>
                <a:ea typeface="Calibri" pitchFamily="34" charset="-122"/>
                <a:cs typeface="Calibri" pitchFamily="34" charset="-120"/>
              </a:rPr>
              <a:t>Maximize SRS  ≡  Minimize penalized cost</a:t>
            </a:r>
            <a:endParaRPr lang="en-US" sz="1000" dirty="0"/>
          </a:p>
        </p:txBody>
      </p:sp>
      <p:sp>
        <p:nvSpPr>
          <p:cNvPr id="12" name="Shape 10"/>
          <p:cNvSpPr/>
          <p:nvPr/>
        </p:nvSpPr>
        <p:spPr>
          <a:xfrm>
            <a:off x="4645152" y="918972"/>
            <a:ext cx="4023360" cy="1261872"/>
          </a:xfrm>
          <a:prstGeom prst="roundRect">
            <a:avLst>
              <a:gd name="adj" fmla="val 7246"/>
            </a:avLst>
          </a:prstGeom>
          <a:solidFill>
            <a:srgbClr val="FFFFFF"/>
          </a:solidFill>
          <a:ln w="19050">
            <a:solidFill>
              <a:srgbClr val="1B3A6B"/>
            </a:solidFill>
            <a:prstDash val="solid"/>
          </a:ln>
          <a:effectLst>
            <a:outerShdw blurRad="76200" dist="25400" dir="2700000" algn="bl" rotWithShape="0">
              <a:srgbClr val="000000">
                <a:alpha val="10000"/>
              </a:srgbClr>
            </a:outerShdw>
          </a:effectLst>
        </p:spPr>
        <p:txBody>
          <a:bodyPr/>
          <a:lstStyle/>
          <a:p>
            <a:endParaRPr lang="es-MX"/>
          </a:p>
        </p:txBody>
      </p:sp>
      <p:sp>
        <p:nvSpPr>
          <p:cNvPr id="13" name="Shape 11"/>
          <p:cNvSpPr/>
          <p:nvPr/>
        </p:nvSpPr>
        <p:spPr>
          <a:xfrm>
            <a:off x="4709160" y="960120"/>
            <a:ext cx="64008" cy="1261872"/>
          </a:xfrm>
          <a:prstGeom prst="rect">
            <a:avLst/>
          </a:prstGeom>
          <a:solidFill>
            <a:srgbClr val="1B3A6B"/>
          </a:solidFill>
          <a:ln w="12700">
            <a:solidFill>
              <a:srgbClr val="1B3A6B"/>
            </a:solidFill>
            <a:prstDash val="solid"/>
          </a:ln>
        </p:spPr>
        <p:txBody>
          <a:bodyPr/>
          <a:lstStyle/>
          <a:p>
            <a:endParaRPr lang="es-MX"/>
          </a:p>
        </p:txBody>
      </p:sp>
      <p:sp>
        <p:nvSpPr>
          <p:cNvPr id="14" name="Text 12"/>
          <p:cNvSpPr/>
          <p:nvPr/>
        </p:nvSpPr>
        <p:spPr>
          <a:xfrm>
            <a:off x="4828032" y="1051560"/>
            <a:ext cx="3657600" cy="310896"/>
          </a:xfrm>
          <a:prstGeom prst="rect">
            <a:avLst/>
          </a:prstGeom>
          <a:noFill/>
          <a:ln/>
        </p:spPr>
        <p:txBody>
          <a:bodyPr wrap="square" rtlCol="0" anchor="ctr"/>
          <a:lstStyle/>
          <a:p>
            <a:pPr marL="0" indent="0">
              <a:buNone/>
            </a:pPr>
            <a:r>
              <a:rPr lang="en-US" sz="1400" b="1" dirty="0">
                <a:solidFill>
                  <a:srgbClr val="1B3A6B"/>
                </a:solidFill>
                <a:latin typeface="Courier New" pitchFamily="34" charset="0"/>
                <a:ea typeface="Courier New" pitchFamily="34" charset="-122"/>
                <a:cs typeface="Courier New" pitchFamily="34" charset="-120"/>
              </a:rPr>
              <a:t>C_crit</a:t>
            </a:r>
            <a:endParaRPr lang="en-US" sz="1400" dirty="0"/>
          </a:p>
        </p:txBody>
      </p:sp>
      <p:sp>
        <p:nvSpPr>
          <p:cNvPr id="15" name="Text 13"/>
          <p:cNvSpPr/>
          <p:nvPr/>
        </p:nvSpPr>
        <p:spPr>
          <a:xfrm>
            <a:off x="4828032" y="1389888"/>
            <a:ext cx="3749040" cy="777240"/>
          </a:xfrm>
          <a:prstGeom prst="rect">
            <a:avLst/>
          </a:prstGeom>
          <a:noFill/>
          <a:ln/>
        </p:spPr>
        <p:txBody>
          <a:bodyPr wrap="square" rtlCol="0" anchor="ctr"/>
          <a:lstStyle/>
          <a:p>
            <a:r>
              <a:rPr lang="en-US" sz="1400" dirty="0">
                <a:solidFill>
                  <a:srgbClr val="1A2332"/>
                </a:solidFill>
                <a:latin typeface="Calibri" pitchFamily="34" charset="0"/>
                <a:ea typeface="Calibri" pitchFamily="34" charset="-122"/>
                <a:cs typeface="Calibri" pitchFamily="34" charset="-120"/>
              </a:rPr>
              <a:t>Penalizes weeks where</a:t>
            </a:r>
          </a:p>
          <a:p>
            <a:r>
              <a:rPr lang="en-US" sz="1400" dirty="0">
                <a:solidFill>
                  <a:srgbClr val="1A2332"/>
                </a:solidFill>
                <a:latin typeface="Calibri" pitchFamily="34" charset="0"/>
                <a:ea typeface="Calibri" pitchFamily="34" charset="-122"/>
                <a:cs typeface="Calibri" pitchFamily="34" charset="-120"/>
              </a:rPr>
              <a:t>S(t) &lt; Smin = 25 % Smax</a:t>
            </a:r>
          </a:p>
          <a:p>
            <a:r>
              <a:rPr lang="en-US" sz="1400" dirty="0">
                <a:solidFill>
                  <a:srgbClr val="1A2332"/>
                </a:solidFill>
                <a:latin typeface="Calibri" pitchFamily="34" charset="0"/>
                <a:ea typeface="Calibri" pitchFamily="34" charset="-122"/>
                <a:cs typeface="Calibri" pitchFamily="34" charset="-120"/>
              </a:rPr>
              <a:t>→ prevents depletion</a:t>
            </a:r>
          </a:p>
        </p:txBody>
      </p:sp>
      <p:sp>
        <p:nvSpPr>
          <p:cNvPr id="16" name="Shape 14"/>
          <p:cNvSpPr/>
          <p:nvPr/>
        </p:nvSpPr>
        <p:spPr>
          <a:xfrm>
            <a:off x="4709160" y="2350008"/>
            <a:ext cx="4023360" cy="1261872"/>
          </a:xfrm>
          <a:prstGeom prst="roundRect">
            <a:avLst>
              <a:gd name="adj" fmla="val 7246"/>
            </a:avLst>
          </a:prstGeom>
          <a:solidFill>
            <a:srgbClr val="FFFFFF"/>
          </a:solidFill>
          <a:ln w="19050">
            <a:solidFill>
              <a:srgbClr val="0E7C7B"/>
            </a:solidFill>
            <a:prstDash val="solid"/>
          </a:ln>
          <a:effectLst>
            <a:outerShdw blurRad="76200" dist="25400" dir="2700000" algn="bl" rotWithShape="0">
              <a:srgbClr val="000000">
                <a:alpha val="10000"/>
              </a:srgbClr>
            </a:outerShdw>
          </a:effectLst>
        </p:spPr>
        <p:txBody>
          <a:bodyPr/>
          <a:lstStyle/>
          <a:p>
            <a:endParaRPr lang="es-MX"/>
          </a:p>
        </p:txBody>
      </p:sp>
      <p:sp>
        <p:nvSpPr>
          <p:cNvPr id="17" name="Shape 15"/>
          <p:cNvSpPr/>
          <p:nvPr/>
        </p:nvSpPr>
        <p:spPr>
          <a:xfrm>
            <a:off x="4709160" y="2350008"/>
            <a:ext cx="64008" cy="1261872"/>
          </a:xfrm>
          <a:prstGeom prst="rect">
            <a:avLst/>
          </a:prstGeom>
          <a:solidFill>
            <a:srgbClr val="0E7C7B"/>
          </a:solidFill>
          <a:ln w="12700">
            <a:solidFill>
              <a:srgbClr val="0E7C7B"/>
            </a:solidFill>
            <a:prstDash val="solid"/>
          </a:ln>
        </p:spPr>
        <p:txBody>
          <a:bodyPr/>
          <a:lstStyle/>
          <a:p>
            <a:endParaRPr lang="es-MX"/>
          </a:p>
        </p:txBody>
      </p:sp>
      <p:sp>
        <p:nvSpPr>
          <p:cNvPr id="18" name="Text 16"/>
          <p:cNvSpPr/>
          <p:nvPr/>
        </p:nvSpPr>
        <p:spPr>
          <a:xfrm>
            <a:off x="4828032" y="2441448"/>
            <a:ext cx="3657600" cy="310896"/>
          </a:xfrm>
          <a:prstGeom prst="rect">
            <a:avLst/>
          </a:prstGeom>
          <a:noFill/>
          <a:ln/>
        </p:spPr>
        <p:txBody>
          <a:bodyPr wrap="square" rtlCol="0" anchor="ctr"/>
          <a:lstStyle/>
          <a:p>
            <a:pPr marL="0" indent="0">
              <a:buNone/>
            </a:pPr>
            <a:r>
              <a:rPr lang="en-US" sz="1400" b="1" dirty="0">
                <a:solidFill>
                  <a:srgbClr val="0E7C7B"/>
                </a:solidFill>
                <a:latin typeface="Courier New" pitchFamily="34" charset="0"/>
                <a:ea typeface="Courier New" pitchFamily="34" charset="-122"/>
                <a:cs typeface="Courier New" pitchFamily="34" charset="-120"/>
              </a:rPr>
              <a:t>C_dev</a:t>
            </a:r>
            <a:endParaRPr lang="en-US" sz="1400" dirty="0"/>
          </a:p>
        </p:txBody>
      </p:sp>
      <p:sp>
        <p:nvSpPr>
          <p:cNvPr id="19" name="Text 17"/>
          <p:cNvSpPr/>
          <p:nvPr/>
        </p:nvSpPr>
        <p:spPr>
          <a:xfrm>
            <a:off x="4828032" y="2779776"/>
            <a:ext cx="3749040" cy="777240"/>
          </a:xfrm>
          <a:prstGeom prst="rect">
            <a:avLst/>
          </a:prstGeom>
          <a:noFill/>
          <a:ln/>
        </p:spPr>
        <p:txBody>
          <a:bodyPr wrap="square" rtlCol="0" anchor="ctr"/>
          <a:lstStyle/>
          <a:p>
            <a:pPr indent="0">
              <a:buNone/>
            </a:pPr>
            <a:r>
              <a:rPr lang="en-US" sz="1400" dirty="0">
                <a:solidFill>
                  <a:srgbClr val="1A2332"/>
                </a:solidFill>
                <a:latin typeface="Calibri" pitchFamily="34" charset="0"/>
                <a:ea typeface="Calibri" pitchFamily="34" charset="-122"/>
                <a:cs typeface="Calibri" pitchFamily="34" charset="-120"/>
              </a:rPr>
              <a:t>Penalizes large deviations</a:t>
            </a:r>
          </a:p>
          <a:p>
            <a:pPr indent="0">
              <a:buNone/>
            </a:pPr>
            <a:r>
              <a:rPr lang="en-US" sz="1400" dirty="0">
                <a:solidFill>
                  <a:srgbClr val="1A2332"/>
                </a:solidFill>
                <a:latin typeface="Calibri" pitchFamily="34" charset="0"/>
                <a:ea typeface="Calibri" pitchFamily="34" charset="-122"/>
                <a:cs typeface="Calibri" pitchFamily="34" charset="-120"/>
              </a:rPr>
              <a:t>from historical releases</a:t>
            </a:r>
          </a:p>
          <a:p>
            <a:pPr indent="0">
              <a:buNone/>
            </a:pPr>
            <a:r>
              <a:rPr lang="en-US" sz="1400" dirty="0">
                <a:solidFill>
                  <a:srgbClr val="1A2332"/>
                </a:solidFill>
                <a:latin typeface="Calibri" pitchFamily="34" charset="0"/>
                <a:ea typeface="Calibri" pitchFamily="34" charset="-122"/>
                <a:cs typeface="Calibri" pitchFamily="34" charset="-120"/>
              </a:rPr>
              <a:t>→ operational realism</a:t>
            </a:r>
          </a:p>
        </p:txBody>
      </p:sp>
      <p:sp>
        <p:nvSpPr>
          <p:cNvPr id="20" name="Shape 18"/>
          <p:cNvSpPr/>
          <p:nvPr/>
        </p:nvSpPr>
        <p:spPr>
          <a:xfrm>
            <a:off x="4709160" y="3739896"/>
            <a:ext cx="4023360" cy="1261872"/>
          </a:xfrm>
          <a:prstGeom prst="roundRect">
            <a:avLst>
              <a:gd name="adj" fmla="val 7246"/>
            </a:avLst>
          </a:prstGeom>
          <a:solidFill>
            <a:srgbClr val="FFFFFF"/>
          </a:solidFill>
          <a:ln w="19050">
            <a:solidFill>
              <a:srgbClr val="2E5FA3"/>
            </a:solidFill>
            <a:prstDash val="solid"/>
          </a:ln>
          <a:effectLst>
            <a:outerShdw blurRad="76200" dist="25400" dir="2700000" algn="bl" rotWithShape="0">
              <a:srgbClr val="000000">
                <a:alpha val="10000"/>
              </a:srgbClr>
            </a:outerShdw>
          </a:effectLst>
        </p:spPr>
        <p:txBody>
          <a:bodyPr/>
          <a:lstStyle/>
          <a:p>
            <a:endParaRPr lang="es-MX"/>
          </a:p>
        </p:txBody>
      </p:sp>
      <p:sp>
        <p:nvSpPr>
          <p:cNvPr id="21" name="Shape 19"/>
          <p:cNvSpPr/>
          <p:nvPr/>
        </p:nvSpPr>
        <p:spPr>
          <a:xfrm>
            <a:off x="4709160" y="3739896"/>
            <a:ext cx="64008" cy="1261872"/>
          </a:xfrm>
          <a:prstGeom prst="rect">
            <a:avLst/>
          </a:prstGeom>
          <a:solidFill>
            <a:srgbClr val="2E5FA3"/>
          </a:solidFill>
          <a:ln w="12700">
            <a:solidFill>
              <a:srgbClr val="2E5FA3"/>
            </a:solidFill>
            <a:prstDash val="solid"/>
          </a:ln>
        </p:spPr>
        <p:txBody>
          <a:bodyPr/>
          <a:lstStyle/>
          <a:p>
            <a:endParaRPr lang="es-MX"/>
          </a:p>
        </p:txBody>
      </p:sp>
      <p:sp>
        <p:nvSpPr>
          <p:cNvPr id="22" name="Text 20"/>
          <p:cNvSpPr/>
          <p:nvPr/>
        </p:nvSpPr>
        <p:spPr>
          <a:xfrm>
            <a:off x="4828032" y="3831336"/>
            <a:ext cx="3657600" cy="310896"/>
          </a:xfrm>
          <a:prstGeom prst="rect">
            <a:avLst/>
          </a:prstGeom>
          <a:noFill/>
          <a:ln/>
        </p:spPr>
        <p:txBody>
          <a:bodyPr wrap="square" rtlCol="0" anchor="ctr"/>
          <a:lstStyle/>
          <a:p>
            <a:pPr marL="0" indent="0">
              <a:buNone/>
            </a:pPr>
            <a:r>
              <a:rPr lang="en-US" sz="1400" b="1" dirty="0">
                <a:solidFill>
                  <a:srgbClr val="2E5FA3"/>
                </a:solidFill>
                <a:latin typeface="Courier New" pitchFamily="34" charset="0"/>
                <a:ea typeface="Courier New" pitchFamily="34" charset="-122"/>
                <a:cs typeface="Courier New" pitchFamily="34" charset="-120"/>
              </a:rPr>
              <a:t>C_smooth</a:t>
            </a:r>
            <a:endParaRPr lang="en-US" sz="1400" dirty="0"/>
          </a:p>
        </p:txBody>
      </p:sp>
      <p:sp>
        <p:nvSpPr>
          <p:cNvPr id="23" name="Text 21"/>
          <p:cNvSpPr/>
          <p:nvPr/>
        </p:nvSpPr>
        <p:spPr>
          <a:xfrm>
            <a:off x="4828032" y="4169664"/>
            <a:ext cx="3749040" cy="777240"/>
          </a:xfrm>
          <a:prstGeom prst="rect">
            <a:avLst/>
          </a:prstGeom>
          <a:noFill/>
          <a:ln/>
        </p:spPr>
        <p:txBody>
          <a:bodyPr wrap="square" rtlCol="0" anchor="ctr"/>
          <a:lstStyle/>
          <a:p>
            <a:r>
              <a:rPr lang="en-US" sz="1400" dirty="0">
                <a:solidFill>
                  <a:srgbClr val="1A2332"/>
                </a:solidFill>
                <a:latin typeface="Calibri" pitchFamily="34" charset="0"/>
                <a:ea typeface="Calibri" pitchFamily="34" charset="-122"/>
                <a:cs typeface="Calibri" pitchFamily="34" charset="-120"/>
              </a:rPr>
              <a:t>Penalizes abrupt week-to-week</a:t>
            </a:r>
          </a:p>
          <a:p>
            <a:r>
              <a:rPr lang="en-US" sz="1400" dirty="0">
                <a:solidFill>
                  <a:srgbClr val="1A2332"/>
                </a:solidFill>
                <a:latin typeface="Calibri" pitchFamily="34" charset="0"/>
                <a:ea typeface="Calibri" pitchFamily="34" charset="-122"/>
                <a:cs typeface="Calibri" pitchFamily="34" charset="-120"/>
              </a:rPr>
              <a:t>changes in the release policy</a:t>
            </a:r>
          </a:p>
          <a:p>
            <a:r>
              <a:rPr lang="en-US" sz="1400" dirty="0">
                <a:solidFill>
                  <a:srgbClr val="1A2332"/>
                </a:solidFill>
                <a:latin typeface="Calibri" pitchFamily="34" charset="0"/>
                <a:ea typeface="Calibri" pitchFamily="34" charset="-122"/>
                <a:cs typeface="Calibri" pitchFamily="34" charset="-120"/>
              </a:rPr>
              <a:t>→ operational smoothness</a:t>
            </a:r>
          </a:p>
        </p:txBody>
      </p:sp>
      <p:sp>
        <p:nvSpPr>
          <p:cNvPr id="24" name="Text 22"/>
          <p:cNvSpPr/>
          <p:nvPr/>
        </p:nvSpPr>
        <p:spPr>
          <a:xfrm>
            <a:off x="4709160" y="5120640"/>
            <a:ext cx="4023360" cy="228600"/>
          </a:xfrm>
          <a:prstGeom prst="rect">
            <a:avLst/>
          </a:prstGeom>
          <a:noFill/>
          <a:ln/>
        </p:spPr>
        <p:txBody>
          <a:bodyPr wrap="square" rtlCol="0" anchor="ctr"/>
          <a:lstStyle/>
          <a:p>
            <a:pPr marL="0" indent="0" algn="ctr">
              <a:buNone/>
            </a:pPr>
            <a:r>
              <a:rPr lang="en-US" sz="1000" b="1" dirty="0">
                <a:solidFill>
                  <a:srgbClr val="0E7C7B"/>
                </a:solidFill>
                <a:latin typeface="Calibri" pitchFamily="34" charset="0"/>
                <a:ea typeface="Calibri" pitchFamily="34" charset="-122"/>
                <a:cs typeface="Calibri" pitchFamily="34" charset="-120"/>
              </a:rPr>
              <a:t>Aligned with  SDG 6.4  ·  SDG 6.5  ·  SDG 13.1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E7C7B"/>
          </a:solidFill>
          <a:ln w="12700">
            <a:solidFill>
              <a:srgbClr val="0E7C7B"/>
            </a:solidFill>
            <a:prstDash val="solid"/>
          </a:ln>
        </p:spPr>
        <p:txBody>
          <a:bodyPr/>
          <a:lstStyle/>
          <a:p>
            <a:endParaRPr lang="es-MX"/>
          </a:p>
        </p:txBody>
      </p:sp>
      <p:sp>
        <p:nvSpPr>
          <p:cNvPr id="3" name="Shape 1"/>
          <p:cNvSpPr/>
          <p:nvPr/>
        </p:nvSpPr>
        <p:spPr>
          <a:xfrm>
            <a:off x="0" y="804672"/>
            <a:ext cx="9144000" cy="64008"/>
          </a:xfrm>
          <a:prstGeom prst="rect">
            <a:avLst/>
          </a:prstGeom>
          <a:solidFill>
            <a:srgbClr val="2DC9A4"/>
          </a:solidFill>
          <a:ln w="12700">
            <a:solidFill>
              <a:srgbClr val="2DC9A4"/>
            </a:solidFill>
            <a:prstDash val="solid"/>
          </a:ln>
        </p:spPr>
        <p:txBody>
          <a:bodyPr/>
          <a:lstStyle/>
          <a:p>
            <a:endParaRPr lang="es-MX"/>
          </a:p>
        </p:txBody>
      </p:sp>
      <p:sp>
        <p:nvSpPr>
          <p:cNvPr id="4" name="Text 2"/>
          <p:cNvSpPr/>
          <p:nvPr/>
        </p:nvSpPr>
        <p:spPr>
          <a:xfrm>
            <a:off x="457200" y="0"/>
            <a:ext cx="8229600" cy="8686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 &amp; Official Parameters</a:t>
            </a:r>
            <a:endParaRPr lang="en-US" sz="2600" dirty="0"/>
          </a:p>
        </p:txBody>
      </p:sp>
      <p:sp>
        <p:nvSpPr>
          <p:cNvPr id="5" name="Text 3"/>
          <p:cNvSpPr/>
          <p:nvPr/>
        </p:nvSpPr>
        <p:spPr>
          <a:xfrm>
            <a:off x="457200" y="1024128"/>
            <a:ext cx="4114800" cy="320040"/>
          </a:xfrm>
          <a:prstGeom prst="rect">
            <a:avLst/>
          </a:prstGeom>
          <a:noFill/>
          <a:ln/>
        </p:spPr>
        <p:txBody>
          <a:bodyPr wrap="square" rtlCol="0" anchor="ctr"/>
          <a:lstStyle/>
          <a:p>
            <a:pPr marL="0" indent="0">
              <a:buNone/>
            </a:pPr>
            <a:r>
              <a:rPr lang="en-US" sz="1500" b="1" dirty="0">
                <a:solidFill>
                  <a:srgbClr val="0E7C7B"/>
                </a:solidFill>
                <a:latin typeface="Georgia" pitchFamily="34" charset="0"/>
                <a:ea typeface="Georgia" pitchFamily="34" charset="-122"/>
                <a:cs typeface="Georgia" pitchFamily="34" charset="-120"/>
              </a:rPr>
              <a:t>IBWC Data Sources</a:t>
            </a:r>
            <a:endParaRPr lang="en-US" sz="1500" dirty="0"/>
          </a:p>
        </p:txBody>
      </p:sp>
      <p:sp>
        <p:nvSpPr>
          <p:cNvPr id="6" name="Shape 4"/>
          <p:cNvSpPr/>
          <p:nvPr/>
        </p:nvSpPr>
        <p:spPr>
          <a:xfrm>
            <a:off x="457200" y="1417320"/>
            <a:ext cx="4114800" cy="841248"/>
          </a:xfrm>
          <a:prstGeom prst="roundRect">
            <a:avLst>
              <a:gd name="adj" fmla="val 8696"/>
            </a:avLst>
          </a:prstGeom>
          <a:solidFill>
            <a:srgbClr val="F7F9FC"/>
          </a:solidFill>
          <a:ln w="10160">
            <a:solidFill>
              <a:srgbClr val="CBD5E1"/>
            </a:solidFill>
            <a:prstDash val="solid"/>
          </a:ln>
        </p:spPr>
        <p:txBody>
          <a:bodyPr/>
          <a:lstStyle/>
          <a:p>
            <a:endParaRPr lang="es-MX"/>
          </a:p>
        </p:txBody>
      </p:sp>
      <p:sp>
        <p:nvSpPr>
          <p:cNvPr id="7" name="Text 5"/>
          <p:cNvSpPr/>
          <p:nvPr/>
        </p:nvSpPr>
        <p:spPr>
          <a:xfrm>
            <a:off x="594360" y="1463040"/>
            <a:ext cx="3840480" cy="749808"/>
          </a:xfrm>
          <a:prstGeom prst="rect">
            <a:avLst/>
          </a:prstGeom>
          <a:noFill/>
          <a:ln/>
        </p:spPr>
        <p:txBody>
          <a:bodyPr wrap="square" rtlCol="0" anchor="ctr"/>
          <a:lstStyle/>
          <a:p>
            <a:pPr marL="0" indent="0">
              <a:buNone/>
            </a:pPr>
            <a:r>
              <a:rPr lang="en-US" sz="1050" dirty="0">
                <a:solidFill>
                  <a:srgbClr val="1A2332"/>
                </a:solidFill>
                <a:latin typeface="Courier New" pitchFamily="34" charset="0"/>
                <a:ea typeface="Courier New" pitchFamily="34" charset="-122"/>
                <a:cs typeface="Courier New" pitchFamily="34" charset="-120"/>
              </a:rPr>
              <a:t>Discharge.Best Available@08461300</a:t>
            </a:r>
            <a:endParaRPr lang="en-US" sz="1050" dirty="0"/>
          </a:p>
          <a:p>
            <a:pPr marL="0" indent="0">
              <a:buNone/>
            </a:pPr>
            <a:r>
              <a:rPr lang="en-US" sz="1050" dirty="0">
                <a:solidFill>
                  <a:srgbClr val="1A2332"/>
                </a:solidFill>
                <a:latin typeface="Courier New" pitchFamily="34" charset="0"/>
                <a:ea typeface="Courier New" pitchFamily="34" charset="-122"/>
                <a:cs typeface="Courier New" pitchFamily="34" charset="-120"/>
              </a:rPr>
              <a:t>     → R_obs(t), observed historical release</a:t>
            </a:r>
            <a:endParaRPr lang="en-US" sz="1050" dirty="0"/>
          </a:p>
        </p:txBody>
      </p:sp>
      <p:sp>
        <p:nvSpPr>
          <p:cNvPr id="8" name="Shape 6"/>
          <p:cNvSpPr/>
          <p:nvPr/>
        </p:nvSpPr>
        <p:spPr>
          <a:xfrm>
            <a:off x="457200" y="2377440"/>
            <a:ext cx="4114800" cy="841248"/>
          </a:xfrm>
          <a:prstGeom prst="roundRect">
            <a:avLst>
              <a:gd name="adj" fmla="val 8696"/>
            </a:avLst>
          </a:prstGeom>
          <a:solidFill>
            <a:srgbClr val="F7F9FC"/>
          </a:solidFill>
          <a:ln w="10160">
            <a:solidFill>
              <a:srgbClr val="CBD5E1"/>
            </a:solidFill>
            <a:prstDash val="solid"/>
          </a:ln>
        </p:spPr>
        <p:txBody>
          <a:bodyPr/>
          <a:lstStyle/>
          <a:p>
            <a:endParaRPr lang="es-MX"/>
          </a:p>
        </p:txBody>
      </p:sp>
      <p:sp>
        <p:nvSpPr>
          <p:cNvPr id="9" name="Text 7"/>
          <p:cNvSpPr/>
          <p:nvPr/>
        </p:nvSpPr>
        <p:spPr>
          <a:xfrm>
            <a:off x="594360" y="2423160"/>
            <a:ext cx="3840480" cy="749808"/>
          </a:xfrm>
          <a:prstGeom prst="rect">
            <a:avLst/>
          </a:prstGeom>
          <a:noFill/>
          <a:ln/>
        </p:spPr>
        <p:txBody>
          <a:bodyPr wrap="square" rtlCol="0" anchor="ctr"/>
          <a:lstStyle/>
          <a:p>
            <a:pPr marL="0" indent="0">
              <a:buNone/>
            </a:pPr>
            <a:r>
              <a:rPr lang="en-US" sz="1050" dirty="0">
                <a:solidFill>
                  <a:srgbClr val="1A2332"/>
                </a:solidFill>
                <a:latin typeface="Courier New" pitchFamily="34" charset="0"/>
                <a:ea typeface="Courier New" pitchFamily="34" charset="-122"/>
                <a:cs typeface="Courier New" pitchFamily="34" charset="-120"/>
              </a:rPr>
              <a:t>Total Storage.Web-Daily@08461200</a:t>
            </a:r>
            <a:endParaRPr lang="en-US" sz="1050" dirty="0"/>
          </a:p>
          <a:p>
            <a:pPr marL="0" indent="0">
              <a:buNone/>
            </a:pPr>
            <a:r>
              <a:rPr lang="en-US" sz="1050" dirty="0">
                <a:solidFill>
                  <a:srgbClr val="1A2332"/>
                </a:solidFill>
                <a:latin typeface="Courier New" pitchFamily="34" charset="0"/>
                <a:ea typeface="Courier New" pitchFamily="34" charset="-122"/>
                <a:cs typeface="Courier New" pitchFamily="34" charset="-120"/>
              </a:rPr>
              <a:t>     → S(t) and ΔS_obs(t) weekly change</a:t>
            </a:r>
            <a:endParaRPr lang="en-US" sz="1050" dirty="0"/>
          </a:p>
        </p:txBody>
      </p:sp>
      <p:sp>
        <p:nvSpPr>
          <p:cNvPr id="10" name="Shape 8"/>
          <p:cNvSpPr/>
          <p:nvPr/>
        </p:nvSpPr>
        <p:spPr>
          <a:xfrm>
            <a:off x="457200" y="3337560"/>
            <a:ext cx="4114800" cy="841248"/>
          </a:xfrm>
          <a:prstGeom prst="roundRect">
            <a:avLst>
              <a:gd name="adj" fmla="val 8696"/>
            </a:avLst>
          </a:prstGeom>
          <a:solidFill>
            <a:srgbClr val="F7F9FC"/>
          </a:solidFill>
          <a:ln w="10160">
            <a:solidFill>
              <a:srgbClr val="CBD5E1"/>
            </a:solidFill>
            <a:prstDash val="solid"/>
          </a:ln>
        </p:spPr>
        <p:txBody>
          <a:bodyPr/>
          <a:lstStyle/>
          <a:p>
            <a:endParaRPr lang="es-MX"/>
          </a:p>
        </p:txBody>
      </p:sp>
      <p:sp>
        <p:nvSpPr>
          <p:cNvPr id="11" name="Text 9"/>
          <p:cNvSpPr/>
          <p:nvPr/>
        </p:nvSpPr>
        <p:spPr>
          <a:xfrm>
            <a:off x="594360" y="3383280"/>
            <a:ext cx="3840480" cy="749808"/>
          </a:xfrm>
          <a:prstGeom prst="rect">
            <a:avLst/>
          </a:prstGeom>
          <a:noFill/>
          <a:ln/>
        </p:spPr>
        <p:txBody>
          <a:bodyPr wrap="square" rtlCol="0" anchor="ctr"/>
          <a:lstStyle/>
          <a:p>
            <a:pPr marL="0" indent="0">
              <a:buNone/>
            </a:pPr>
            <a:r>
              <a:rPr lang="en-US" sz="1050" dirty="0">
                <a:solidFill>
                  <a:srgbClr val="1A2332"/>
                </a:solidFill>
                <a:latin typeface="Courier New" pitchFamily="34" charset="0"/>
                <a:ea typeface="Courier New" pitchFamily="34" charset="-122"/>
                <a:cs typeface="Courier New" pitchFamily="34" charset="-120"/>
              </a:rPr>
              <a:t>falcon_reservoir_constants.json</a:t>
            </a:r>
            <a:endParaRPr lang="en-US" sz="1050" dirty="0"/>
          </a:p>
          <a:p>
            <a:pPr marL="0" indent="0">
              <a:buNone/>
            </a:pPr>
            <a:r>
              <a:rPr lang="en-US" sz="1050" dirty="0">
                <a:solidFill>
                  <a:srgbClr val="1A2332"/>
                </a:solidFill>
                <a:latin typeface="Courier New" pitchFamily="34" charset="0"/>
                <a:ea typeface="Courier New" pitchFamily="34" charset="-122"/>
                <a:cs typeface="Courier New" pitchFamily="34" charset="-120"/>
              </a:rPr>
              <a:t>     → Smax verified by 2 independent methods</a:t>
            </a:r>
            <a:endParaRPr lang="en-US" sz="1050" dirty="0"/>
          </a:p>
        </p:txBody>
      </p:sp>
      <p:sp>
        <p:nvSpPr>
          <p:cNvPr id="12" name="Text 10"/>
          <p:cNvSpPr/>
          <p:nvPr/>
        </p:nvSpPr>
        <p:spPr>
          <a:xfrm>
            <a:off x="457200" y="4325112"/>
            <a:ext cx="4114800" cy="365760"/>
          </a:xfrm>
          <a:prstGeom prst="rect">
            <a:avLst/>
          </a:prstGeom>
          <a:noFill/>
          <a:ln/>
        </p:spPr>
        <p:txBody>
          <a:bodyPr wrap="square" rtlCol="0" anchor="ctr"/>
          <a:lstStyle/>
          <a:p>
            <a:pPr marL="0" indent="0">
              <a:buNone/>
            </a:pPr>
            <a:r>
              <a:rPr lang="en-US" sz="1050" i="1" dirty="0">
                <a:solidFill>
                  <a:srgbClr val="6B7A8D"/>
                </a:solidFill>
                <a:latin typeface="Calibri" pitchFamily="34" charset="0"/>
                <a:ea typeface="Calibri" pitchFamily="34" charset="-122"/>
                <a:cs typeface="Calibri" pitchFamily="34" charset="-120"/>
              </a:rPr>
              <a:t>Discharge in m³/s integrated over 15-min intervals → weekly volume (m³/week).</a:t>
            </a:r>
            <a:endParaRPr lang="en-US" sz="1050" dirty="0"/>
          </a:p>
        </p:txBody>
      </p:sp>
      <p:sp>
        <p:nvSpPr>
          <p:cNvPr id="13" name="Text 11"/>
          <p:cNvSpPr/>
          <p:nvPr/>
        </p:nvSpPr>
        <p:spPr>
          <a:xfrm>
            <a:off x="4800600" y="1024128"/>
            <a:ext cx="4023360" cy="320040"/>
          </a:xfrm>
          <a:prstGeom prst="rect">
            <a:avLst/>
          </a:prstGeom>
          <a:noFill/>
          <a:ln/>
        </p:spPr>
        <p:txBody>
          <a:bodyPr wrap="square" rtlCol="0" anchor="ctr"/>
          <a:lstStyle/>
          <a:p>
            <a:pPr marL="0" indent="0">
              <a:buNone/>
            </a:pPr>
            <a:r>
              <a:rPr lang="en-US" sz="1400" b="1" dirty="0">
                <a:solidFill>
                  <a:srgbClr val="1B3A6B"/>
                </a:solidFill>
                <a:latin typeface="Georgia" pitchFamily="34" charset="0"/>
                <a:ea typeface="Georgia" pitchFamily="34" charset="-122"/>
                <a:cs typeface="Georgia" pitchFamily="34" charset="-120"/>
              </a:rPr>
              <a:t>Official Benchmark — T = 26 weeks, L = 5 levels.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3878570969"/>
              </p:ext>
            </p:extLst>
          </p:nvPr>
        </p:nvGraphicFramePr>
        <p:xfrm>
          <a:off x="4800600" y="1451086"/>
          <a:ext cx="4114800" cy="3006262"/>
        </p:xfrm>
        <a:graphic>
          <a:graphicData uri="http://schemas.openxmlformats.org/drawingml/2006/table">
            <a:tbl>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9391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Smax  (official IBWC)</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3,288,726,000 m³</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Smin  = 0.25 × Smax</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822,181,500 m³</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6105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S₀  (initial)</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375,611,223 m³  (11.4 % cap.)</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Δu  = 0.25 × median(R)</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2,804,363 m³/week</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u_max  = 2Δu</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5,608,725 m³/week</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η  (balance constraint)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w₁</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5.479 × 10⁻²⁰</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w₂</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1.223 × 10⁻¹⁶</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29391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w₃</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3.179 × 10⁻¹⁷</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bl>
          </a:graphicData>
        </a:graphic>
      </p:graphicFrame>
      <p:sp>
        <p:nvSpPr>
          <p:cNvPr id="15" name="Shape 12"/>
          <p:cNvSpPr/>
          <p:nvPr/>
        </p:nvSpPr>
        <p:spPr>
          <a:xfrm>
            <a:off x="4800600" y="4460162"/>
            <a:ext cx="4114800" cy="658368"/>
          </a:xfrm>
          <a:prstGeom prst="roundRect">
            <a:avLst>
              <a:gd name="adj" fmla="val 11111"/>
            </a:avLst>
          </a:prstGeom>
          <a:solidFill>
            <a:srgbClr val="FFF4F4"/>
          </a:solidFill>
          <a:ln w="15240">
            <a:solidFill>
              <a:srgbClr val="C0392B"/>
            </a:solidFill>
            <a:prstDash val="solid"/>
          </a:ln>
        </p:spPr>
        <p:txBody>
          <a:bodyPr/>
          <a:lstStyle/>
          <a:p>
            <a:endParaRPr lang="es-MX"/>
          </a:p>
        </p:txBody>
      </p:sp>
      <p:sp>
        <p:nvSpPr>
          <p:cNvPr id="16" name="Text 13"/>
          <p:cNvSpPr/>
          <p:nvPr/>
        </p:nvSpPr>
        <p:spPr>
          <a:xfrm>
            <a:off x="4937760" y="4522060"/>
            <a:ext cx="3840480" cy="54864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S₀ = 375 Mm³ &lt; Smin = 822 Mm³  —  reservoir starts in the critical zone.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w="12700">
            <a:solidFill>
              <a:srgbClr val="0A1628"/>
            </a:solidFill>
            <a:prstDash val="solid"/>
          </a:ln>
        </p:spPr>
        <p:txBody>
          <a:bodyPr/>
          <a:lstStyle/>
          <a:p>
            <a:endParaRPr lang="es-MX"/>
          </a:p>
        </p:txBody>
      </p:sp>
      <p:sp>
        <p:nvSpPr>
          <p:cNvPr id="3" name="Shape 1"/>
          <p:cNvSpPr/>
          <p:nvPr/>
        </p:nvSpPr>
        <p:spPr>
          <a:xfrm>
            <a:off x="0" y="804672"/>
            <a:ext cx="9144000" cy="64008"/>
          </a:xfrm>
          <a:prstGeom prst="rect">
            <a:avLst/>
          </a:prstGeom>
          <a:solidFill>
            <a:srgbClr val="2DC9A4"/>
          </a:solidFill>
          <a:ln w="12700">
            <a:solidFill>
              <a:srgbClr val="2DC9A4"/>
            </a:solidFill>
            <a:prstDash val="solid"/>
          </a:ln>
        </p:spPr>
        <p:txBody>
          <a:bodyPr/>
          <a:lstStyle/>
          <a:p>
            <a:endParaRPr lang="es-MX"/>
          </a:p>
        </p:txBody>
      </p:sp>
      <p:sp>
        <p:nvSpPr>
          <p:cNvPr id="4" name="Text 2"/>
          <p:cNvSpPr/>
          <p:nvPr/>
        </p:nvSpPr>
        <p:spPr>
          <a:xfrm>
            <a:off x="457200" y="0"/>
            <a:ext cx="6858000" cy="8686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Baseline Methods</a:t>
            </a:r>
            <a:endParaRPr lang="en-US" sz="2600" dirty="0"/>
          </a:p>
        </p:txBody>
      </p:sp>
      <p:sp>
        <p:nvSpPr>
          <p:cNvPr id="6" name="Shape 4"/>
          <p:cNvSpPr/>
          <p:nvPr/>
        </p:nvSpPr>
        <p:spPr>
          <a:xfrm>
            <a:off x="457200" y="1024128"/>
            <a:ext cx="3977640" cy="2148840"/>
          </a:xfrm>
          <a:prstGeom prst="roundRect">
            <a:avLst>
              <a:gd name="adj" fmla="val 5106"/>
            </a:avLst>
          </a:prstGeom>
          <a:solidFill>
            <a:srgbClr val="FFFFFF"/>
          </a:solidFill>
          <a:ln w="19050">
            <a:solidFill>
              <a:srgbClr val="6B7A8D"/>
            </a:solidFill>
            <a:prstDash val="solid"/>
          </a:ln>
          <a:effectLst>
            <a:outerShdw blurRad="76200" dist="25400" dir="2700000" algn="bl" rotWithShape="0">
              <a:srgbClr val="000000">
                <a:alpha val="10000"/>
              </a:srgbClr>
            </a:outerShdw>
          </a:effectLst>
        </p:spPr>
        <p:txBody>
          <a:bodyPr/>
          <a:lstStyle/>
          <a:p>
            <a:endParaRPr lang="es-MX"/>
          </a:p>
        </p:txBody>
      </p:sp>
      <p:sp>
        <p:nvSpPr>
          <p:cNvPr id="7" name="Shape 5"/>
          <p:cNvSpPr/>
          <p:nvPr/>
        </p:nvSpPr>
        <p:spPr>
          <a:xfrm>
            <a:off x="457200" y="1024128"/>
            <a:ext cx="64008" cy="2148840"/>
          </a:xfrm>
          <a:prstGeom prst="rect">
            <a:avLst/>
          </a:prstGeom>
          <a:solidFill>
            <a:srgbClr val="6B7A8D"/>
          </a:solidFill>
          <a:ln w="12700">
            <a:solidFill>
              <a:srgbClr val="6B7A8D"/>
            </a:solidFill>
            <a:prstDash val="solid"/>
          </a:ln>
        </p:spPr>
        <p:txBody>
          <a:bodyPr/>
          <a:lstStyle/>
          <a:p>
            <a:endParaRPr lang="es-MX"/>
          </a:p>
        </p:txBody>
      </p:sp>
      <p:sp>
        <p:nvSpPr>
          <p:cNvPr id="8" name="Text 6"/>
          <p:cNvSpPr/>
          <p:nvPr/>
        </p:nvSpPr>
        <p:spPr>
          <a:xfrm>
            <a:off x="658368" y="1115568"/>
            <a:ext cx="3611880" cy="320040"/>
          </a:xfrm>
          <a:prstGeom prst="rect">
            <a:avLst/>
          </a:prstGeom>
          <a:noFill/>
          <a:ln/>
        </p:spPr>
        <p:txBody>
          <a:bodyPr wrap="square" rtlCol="0" anchor="ctr"/>
          <a:lstStyle/>
          <a:p>
            <a:pPr marL="0" indent="0">
              <a:buNone/>
            </a:pPr>
            <a:r>
              <a:rPr lang="en-US" sz="1400" b="1" dirty="0">
                <a:solidFill>
                  <a:srgbClr val="1A2332"/>
                </a:solidFill>
                <a:latin typeface="Georgia" pitchFamily="34" charset="0"/>
                <a:ea typeface="Georgia" pitchFamily="34" charset="-122"/>
                <a:cs typeface="Georgia" pitchFamily="34" charset="-120"/>
              </a:rPr>
              <a:t>Baseline 1 — Historical Replay</a:t>
            </a:r>
            <a:endParaRPr lang="en-US" sz="1400" dirty="0"/>
          </a:p>
        </p:txBody>
      </p:sp>
      <p:sp>
        <p:nvSpPr>
          <p:cNvPr id="9" name="Text 7"/>
          <p:cNvSpPr/>
          <p:nvPr/>
        </p:nvSpPr>
        <p:spPr>
          <a:xfrm>
            <a:off x="658368" y="1481328"/>
            <a:ext cx="3611880" cy="274320"/>
          </a:xfrm>
          <a:prstGeom prst="rect">
            <a:avLst/>
          </a:prstGeom>
          <a:noFill/>
          <a:ln/>
        </p:spPr>
        <p:txBody>
          <a:bodyPr wrap="square" rtlCol="0" anchor="ctr"/>
          <a:lstStyle/>
          <a:p>
            <a:pPr marL="0" indent="0">
              <a:buNone/>
            </a:pPr>
            <a:r>
              <a:rPr lang="en-US" sz="1300" dirty="0">
                <a:solidFill>
                  <a:srgbClr val="0A1628"/>
                </a:solidFill>
                <a:latin typeface="Courier New" pitchFamily="34" charset="0"/>
                <a:ea typeface="Courier New" pitchFamily="34" charset="-122"/>
                <a:cs typeface="Courier New" pitchFamily="34" charset="-120"/>
              </a:rPr>
              <a:t>u(t) = 0  for all t</a:t>
            </a:r>
            <a:endParaRPr lang="en-US" sz="1300" dirty="0"/>
          </a:p>
        </p:txBody>
      </p:sp>
      <p:sp>
        <p:nvSpPr>
          <p:cNvPr id="10" name="Text 8"/>
          <p:cNvSpPr/>
          <p:nvPr/>
        </p:nvSpPr>
        <p:spPr>
          <a:xfrm>
            <a:off x="658368" y="1810512"/>
            <a:ext cx="3611880" cy="1280160"/>
          </a:xfrm>
          <a:prstGeom prst="rect">
            <a:avLst/>
          </a:prstGeom>
          <a:noFill/>
          <a:ln/>
        </p:spPr>
        <p:txBody>
          <a:bodyPr wrap="square" rtlCol="0" anchor="ctr"/>
          <a:lstStyle/>
          <a:p>
            <a:pPr marL="0" indent="0">
              <a:buNone/>
            </a:pPr>
            <a:r>
              <a:rPr lang="en-US" sz="1400" dirty="0">
                <a:solidFill>
                  <a:srgbClr val="1A2332"/>
                </a:solidFill>
                <a:latin typeface="Calibri" pitchFamily="34" charset="0"/>
                <a:ea typeface="Calibri" pitchFamily="34" charset="-122"/>
                <a:cs typeface="Calibri" pitchFamily="34" charset="-120"/>
              </a:rPr>
              <a:t>Reproduces exact historical operation.</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No optimization applied.</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SRS  =  −0.311534</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27 of 27 weeks below Smin</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Ccrit dominates — Cdev = Csmooth = 0</a:t>
            </a:r>
            <a:endParaRPr lang="en-US" sz="1400" dirty="0"/>
          </a:p>
        </p:txBody>
      </p:sp>
      <p:sp>
        <p:nvSpPr>
          <p:cNvPr id="11" name="Shape 9"/>
          <p:cNvSpPr/>
          <p:nvPr/>
        </p:nvSpPr>
        <p:spPr>
          <a:xfrm>
            <a:off x="4709160" y="1024128"/>
            <a:ext cx="3977640" cy="2148840"/>
          </a:xfrm>
          <a:prstGeom prst="roundRect">
            <a:avLst>
              <a:gd name="adj" fmla="val 5106"/>
            </a:avLst>
          </a:prstGeom>
          <a:solidFill>
            <a:srgbClr val="FFFFFF"/>
          </a:solidFill>
          <a:ln w="19050">
            <a:solidFill>
              <a:srgbClr val="0E7C7B"/>
            </a:solidFill>
            <a:prstDash val="solid"/>
          </a:ln>
          <a:effectLst>
            <a:outerShdw blurRad="76200" dist="25400" dir="2700000" algn="bl" rotWithShape="0">
              <a:srgbClr val="000000">
                <a:alpha val="10000"/>
              </a:srgbClr>
            </a:outerShdw>
          </a:effectLst>
        </p:spPr>
        <p:txBody>
          <a:bodyPr/>
          <a:lstStyle/>
          <a:p>
            <a:endParaRPr lang="es-MX"/>
          </a:p>
        </p:txBody>
      </p:sp>
      <p:sp>
        <p:nvSpPr>
          <p:cNvPr id="12" name="Shape 10"/>
          <p:cNvSpPr/>
          <p:nvPr/>
        </p:nvSpPr>
        <p:spPr>
          <a:xfrm>
            <a:off x="4709160" y="1024128"/>
            <a:ext cx="64008" cy="2148840"/>
          </a:xfrm>
          <a:prstGeom prst="rect">
            <a:avLst/>
          </a:prstGeom>
          <a:solidFill>
            <a:srgbClr val="0E7C7B"/>
          </a:solidFill>
          <a:ln w="12700">
            <a:solidFill>
              <a:srgbClr val="0E7C7B"/>
            </a:solidFill>
            <a:prstDash val="solid"/>
          </a:ln>
        </p:spPr>
        <p:txBody>
          <a:bodyPr/>
          <a:lstStyle/>
          <a:p>
            <a:endParaRPr lang="es-MX"/>
          </a:p>
        </p:txBody>
      </p:sp>
      <p:sp>
        <p:nvSpPr>
          <p:cNvPr id="13" name="Text 11"/>
          <p:cNvSpPr/>
          <p:nvPr/>
        </p:nvSpPr>
        <p:spPr>
          <a:xfrm>
            <a:off x="4910328" y="1115568"/>
            <a:ext cx="3611880" cy="320040"/>
          </a:xfrm>
          <a:prstGeom prst="rect">
            <a:avLst/>
          </a:prstGeom>
          <a:noFill/>
          <a:ln/>
        </p:spPr>
        <p:txBody>
          <a:bodyPr wrap="square" rtlCol="0" anchor="ctr"/>
          <a:lstStyle/>
          <a:p>
            <a:pPr marL="0" indent="0">
              <a:buNone/>
            </a:pPr>
            <a:r>
              <a:rPr lang="en-US" sz="1400" b="1" dirty="0">
                <a:solidFill>
                  <a:srgbClr val="0E7C7B"/>
                </a:solidFill>
                <a:latin typeface="Georgia" pitchFamily="34" charset="0"/>
                <a:ea typeface="Georgia" pitchFamily="34" charset="-122"/>
                <a:cs typeface="Georgia" pitchFamily="34" charset="-120"/>
              </a:rPr>
              <a:t>Baseline 2 — Threshold Rule  (Eq. 18)</a:t>
            </a:r>
            <a:endParaRPr lang="en-US" sz="1400" dirty="0"/>
          </a:p>
        </p:txBody>
      </p:sp>
      <p:sp>
        <p:nvSpPr>
          <p:cNvPr id="14" name="Text 12"/>
          <p:cNvSpPr/>
          <p:nvPr/>
        </p:nvSpPr>
        <p:spPr>
          <a:xfrm>
            <a:off x="4910328" y="1481328"/>
            <a:ext cx="3611880" cy="438912"/>
          </a:xfrm>
          <a:prstGeom prst="rect">
            <a:avLst/>
          </a:prstGeom>
          <a:noFill/>
          <a:ln/>
        </p:spPr>
        <p:txBody>
          <a:bodyPr wrap="square" rtlCol="0" anchor="ctr"/>
          <a:lstStyle/>
          <a:p>
            <a:pPr marL="0" indent="0">
              <a:buNone/>
            </a:pPr>
            <a:r>
              <a:rPr lang="en-US" sz="1200" dirty="0">
                <a:solidFill>
                  <a:srgbClr val="0A1628"/>
                </a:solidFill>
                <a:latin typeface="Courier New" pitchFamily="34" charset="0"/>
                <a:ea typeface="Courier New" pitchFamily="34" charset="-122"/>
                <a:cs typeface="Courier New" pitchFamily="34" charset="-120"/>
              </a:rPr>
              <a:t>u(t) = −Δu  if S(t) &lt; Smin</a:t>
            </a:r>
            <a:endParaRPr lang="en-US" sz="1200" dirty="0"/>
          </a:p>
          <a:p>
            <a:pPr marL="0" indent="0">
              <a:buNone/>
            </a:pPr>
            <a:r>
              <a:rPr lang="en-US" sz="1200" dirty="0">
                <a:solidFill>
                  <a:srgbClr val="0A1628"/>
                </a:solidFill>
                <a:latin typeface="Courier New" pitchFamily="34" charset="0"/>
                <a:ea typeface="Courier New" pitchFamily="34" charset="-122"/>
                <a:cs typeface="Courier New" pitchFamily="34" charset="-120"/>
              </a:rPr>
              <a:t>u(t) =  0   otherwise</a:t>
            </a:r>
            <a:endParaRPr lang="en-US" sz="1200" dirty="0"/>
          </a:p>
        </p:txBody>
      </p:sp>
      <p:sp>
        <p:nvSpPr>
          <p:cNvPr id="15" name="Text 13"/>
          <p:cNvSpPr/>
          <p:nvPr/>
        </p:nvSpPr>
        <p:spPr>
          <a:xfrm>
            <a:off x="4910328" y="1965960"/>
            <a:ext cx="3611880" cy="1115568"/>
          </a:xfrm>
          <a:prstGeom prst="rect">
            <a:avLst/>
          </a:prstGeom>
          <a:noFill/>
          <a:ln/>
        </p:spPr>
        <p:txBody>
          <a:bodyPr wrap="square" rtlCol="0" anchor="ctr"/>
          <a:lstStyle/>
          <a:p>
            <a:pPr marL="0" indent="0">
              <a:buNone/>
            </a:pPr>
            <a:r>
              <a:rPr lang="en-US" sz="1400" dirty="0">
                <a:solidFill>
                  <a:srgbClr val="1A2332"/>
                </a:solidFill>
                <a:latin typeface="Calibri" pitchFamily="34" charset="0"/>
                <a:ea typeface="Calibri" pitchFamily="34" charset="-122"/>
                <a:cs typeface="Calibri" pitchFamily="34" charset="-120"/>
              </a:rPr>
              <a:t>Deterministic conservation rule.</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SRS  =  −0.290423  (balanced)</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  Feasible  |  ΔSRS = +0.021111</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Reduces releases in 11 of 26 weeks</a:t>
            </a:r>
            <a:endParaRPr lang="en-US" sz="1400" dirty="0"/>
          </a:p>
        </p:txBody>
      </p:sp>
      <p:sp>
        <p:nvSpPr>
          <p:cNvPr id="16" name="Text 14"/>
          <p:cNvSpPr/>
          <p:nvPr/>
        </p:nvSpPr>
        <p:spPr>
          <a:xfrm>
            <a:off x="457200" y="3364992"/>
            <a:ext cx="8229600" cy="274320"/>
          </a:xfrm>
          <a:prstGeom prst="rect">
            <a:avLst/>
          </a:prstGeom>
          <a:noFill/>
          <a:ln/>
        </p:spPr>
        <p:txBody>
          <a:bodyPr wrap="square" rtlCol="0" anchor="ctr"/>
          <a:lstStyle/>
          <a:p>
            <a:pPr marL="0" indent="0" algn="ctr">
              <a:buNone/>
            </a:pPr>
            <a:r>
              <a:rPr lang="en-US" sz="1300" b="1" dirty="0">
                <a:solidFill>
                  <a:srgbClr val="1A2332"/>
                </a:solidFill>
                <a:latin typeface="Georgia" pitchFamily="34" charset="0"/>
                <a:ea typeface="Georgia" pitchFamily="34" charset="-122"/>
                <a:cs typeface="Georgia" pitchFamily="34" charset="-120"/>
              </a:rPr>
              <a:t>SRS Comparison  (higher is better)</a:t>
            </a:r>
            <a:endParaRPr lang="en-US" sz="1300" dirty="0"/>
          </a:p>
        </p:txBody>
      </p:sp>
      <p:graphicFrame>
        <p:nvGraphicFramePr>
          <p:cNvPr id="17" name="Chart 0"/>
          <p:cNvGraphicFramePr/>
          <p:nvPr>
            <p:extLst>
              <p:ext uri="{D42A27DB-BD31-4B8C-83A1-F6EECF244321}">
                <p14:modId xmlns:p14="http://schemas.microsoft.com/office/powerpoint/2010/main" val="3432510800"/>
              </p:ext>
            </p:extLst>
          </p:nvPr>
        </p:nvGraphicFramePr>
        <p:xfrm>
          <a:off x="1371600" y="3639312"/>
          <a:ext cx="6400800" cy="93268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txBody>
          <a:bodyPr/>
          <a:lstStyle/>
          <a:p>
            <a:endParaRPr lang="es-MX"/>
          </a:p>
        </p:txBody>
      </p:sp>
      <p:sp>
        <p:nvSpPr>
          <p:cNvPr id="3" name="Shape 1"/>
          <p:cNvSpPr/>
          <p:nvPr/>
        </p:nvSpPr>
        <p:spPr>
          <a:xfrm>
            <a:off x="0" y="804672"/>
            <a:ext cx="9144000" cy="64008"/>
          </a:xfrm>
          <a:prstGeom prst="rect">
            <a:avLst/>
          </a:prstGeom>
          <a:solidFill>
            <a:srgbClr val="2DC9A4"/>
          </a:solidFill>
          <a:ln w="12700">
            <a:solidFill>
              <a:srgbClr val="2DC9A4"/>
            </a:solidFill>
            <a:prstDash val="solid"/>
          </a:ln>
        </p:spPr>
        <p:txBody>
          <a:bodyPr/>
          <a:lstStyle/>
          <a:p>
            <a:endParaRPr lang="es-MX"/>
          </a:p>
        </p:txBody>
      </p:sp>
      <p:sp>
        <p:nvSpPr>
          <p:cNvPr id="4" name="Text 2"/>
          <p:cNvSpPr/>
          <p:nvPr/>
        </p:nvSpPr>
        <p:spPr>
          <a:xfrm>
            <a:off x="457200" y="0"/>
            <a:ext cx="8229600" cy="86868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Classical Method — Exact Dynamic Programming</a:t>
            </a:r>
            <a:endParaRPr lang="en-US" sz="2400" dirty="0"/>
          </a:p>
        </p:txBody>
      </p:sp>
      <p:sp>
        <p:nvSpPr>
          <p:cNvPr id="5" name="Text 3"/>
          <p:cNvSpPr/>
          <p:nvPr/>
        </p:nvSpPr>
        <p:spPr>
          <a:xfrm>
            <a:off x="457200" y="1024128"/>
            <a:ext cx="4114800" cy="320040"/>
          </a:xfrm>
          <a:prstGeom prst="rect">
            <a:avLst/>
          </a:prstGeom>
          <a:noFill/>
          <a:ln/>
        </p:spPr>
        <p:txBody>
          <a:bodyPr wrap="square" rtlCol="0" anchor="ctr"/>
          <a:lstStyle/>
          <a:p>
            <a:pPr marL="0" indent="0">
              <a:buNone/>
            </a:pPr>
            <a:r>
              <a:rPr lang="en-US" sz="1500" b="1" dirty="0">
                <a:solidFill>
                  <a:srgbClr val="1B3A6B"/>
                </a:solidFill>
                <a:latin typeface="Georgia" pitchFamily="34" charset="0"/>
                <a:ea typeface="Georgia" pitchFamily="34" charset="-122"/>
                <a:cs typeface="Georgia" pitchFamily="34" charset="-120"/>
              </a:rPr>
              <a:t>Why Exact Dynamic Programming?</a:t>
            </a:r>
            <a:endParaRPr lang="en-US" sz="1500" dirty="0"/>
          </a:p>
        </p:txBody>
      </p:sp>
      <p:sp>
        <p:nvSpPr>
          <p:cNvPr id="6" name="Text 4"/>
          <p:cNvSpPr/>
          <p:nvPr/>
        </p:nvSpPr>
        <p:spPr>
          <a:xfrm>
            <a:off x="457200" y="1389888"/>
            <a:ext cx="4114800" cy="292608"/>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5²⁶  =  1.49 × 10¹⁸  candidate schedules</a:t>
            </a:r>
            <a:endParaRPr lang="en-US" sz="1300" dirty="0"/>
          </a:p>
        </p:txBody>
      </p:sp>
      <p:sp>
        <p:nvSpPr>
          <p:cNvPr id="7" name="Text 5"/>
          <p:cNvSpPr/>
          <p:nvPr/>
        </p:nvSpPr>
        <p:spPr>
          <a:xfrm>
            <a:off x="457200" y="1793631"/>
            <a:ext cx="4114800" cy="1849198"/>
          </a:xfrm>
          <a:prstGeom prst="rect">
            <a:avLst/>
          </a:prstGeom>
          <a:noFill/>
          <a:ln/>
        </p:spPr>
        <p:txBody>
          <a:bodyPr wrap="square" rtlCol="0" anchor="ctr"/>
          <a:lstStyle/>
          <a:p>
            <a:pPr marL="0" indent="0">
              <a:buNone/>
            </a:pPr>
            <a:r>
              <a:rPr lang="en-US" sz="1400" dirty="0">
                <a:solidFill>
                  <a:srgbClr val="1A2332"/>
                </a:solidFill>
                <a:latin typeface="Calibri" pitchFamily="34" charset="0"/>
                <a:ea typeface="Calibri" pitchFamily="34" charset="-122"/>
                <a:cs typeface="Calibri" pitchFamily="34" charset="-120"/>
              </a:rPr>
              <a:t>Brute-force is impossible. DP exploits the cumulative structure:</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     S_opt(t) = S_hist(t) − q_t · Δu</a:t>
            </a:r>
            <a:endParaRPr lang="en-US" sz="1400" dirty="0"/>
          </a:p>
          <a:p>
            <a:pPr marL="0" indent="0">
              <a:buNone/>
            </a:pP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where q_t = Σ k_τ  (integer sum of adjustment levels).</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State space: (t, q_t, k_{t-1}).  DP is optimal within</a:t>
            </a:r>
            <a:endParaRPr lang="en-US" sz="1400" dirty="0"/>
          </a:p>
          <a:p>
            <a:pPr marL="0" indent="0">
              <a:buNone/>
            </a:pPr>
            <a:r>
              <a:rPr lang="en-US" sz="1400" dirty="0">
                <a:solidFill>
                  <a:srgbClr val="1A2332"/>
                </a:solidFill>
                <a:latin typeface="Calibri" pitchFamily="34" charset="0"/>
                <a:ea typeface="Calibri" pitchFamily="34" charset="-122"/>
                <a:cs typeface="Calibri" pitchFamily="34" charset="-120"/>
              </a:rPr>
              <a:t>the discrete level set — verified by brute-force on T=12.</a:t>
            </a:r>
            <a:endParaRPr lang="en-US" sz="1400" dirty="0"/>
          </a:p>
        </p:txBody>
      </p:sp>
      <p:sp>
        <p:nvSpPr>
          <p:cNvPr id="8" name="Shape 6"/>
          <p:cNvSpPr/>
          <p:nvPr/>
        </p:nvSpPr>
        <p:spPr>
          <a:xfrm>
            <a:off x="411480" y="3892296"/>
            <a:ext cx="4114800" cy="777240"/>
          </a:xfrm>
          <a:prstGeom prst="roundRect">
            <a:avLst>
              <a:gd name="adj" fmla="val 11765"/>
            </a:avLst>
          </a:prstGeom>
          <a:solidFill>
            <a:srgbClr val="EAF2FB"/>
          </a:solidFill>
          <a:ln w="19050">
            <a:solidFill>
              <a:srgbClr val="0E7C7B"/>
            </a:solidFill>
            <a:prstDash val="solid"/>
          </a:ln>
        </p:spPr>
        <p:txBody>
          <a:bodyPr/>
          <a:lstStyle/>
          <a:p>
            <a:endParaRPr lang="es-MX"/>
          </a:p>
        </p:txBody>
      </p:sp>
      <p:sp>
        <p:nvSpPr>
          <p:cNvPr id="9" name="Text 7"/>
          <p:cNvSpPr/>
          <p:nvPr/>
        </p:nvSpPr>
        <p:spPr>
          <a:xfrm>
            <a:off x="548640" y="3938016"/>
            <a:ext cx="3840480" cy="685800"/>
          </a:xfrm>
          <a:prstGeom prst="rect">
            <a:avLst/>
          </a:prstGeom>
          <a:noFill/>
          <a:ln/>
        </p:spPr>
        <p:txBody>
          <a:bodyPr wrap="square" rtlCol="0" anchor="ctr"/>
          <a:lstStyle/>
          <a:p>
            <a:pPr marL="0" indent="0" algn="ctr">
              <a:buNone/>
            </a:pPr>
            <a:r>
              <a:rPr lang="en-US" sz="1150" b="1" dirty="0">
                <a:solidFill>
                  <a:srgbClr val="0A1628"/>
                </a:solidFill>
                <a:latin typeface="Calibri" pitchFamily="34" charset="0"/>
                <a:ea typeface="Calibri" pitchFamily="34" charset="-122"/>
                <a:cs typeface="Calibri" pitchFamily="34" charset="-120"/>
              </a:rPr>
              <a:t>SRS = −0.290423  |  ΔSRS = +0.021111  |  Runtime = 0.020 s  |  Feasible ✓</a:t>
            </a:r>
            <a:endParaRPr lang="en-US" sz="1150" dirty="0"/>
          </a:p>
        </p:txBody>
      </p:sp>
      <p:sp>
        <p:nvSpPr>
          <p:cNvPr id="10" name="Text 8"/>
          <p:cNvSpPr/>
          <p:nvPr/>
        </p:nvSpPr>
        <p:spPr>
          <a:xfrm>
            <a:off x="4800600" y="1024128"/>
            <a:ext cx="4023360" cy="320040"/>
          </a:xfrm>
          <a:prstGeom prst="rect">
            <a:avLst/>
          </a:prstGeom>
          <a:noFill/>
          <a:ln/>
        </p:spPr>
        <p:txBody>
          <a:bodyPr wrap="square" rtlCol="0" anchor="ctr"/>
          <a:lstStyle/>
          <a:p>
            <a:pPr marL="0" indent="0">
              <a:buNone/>
            </a:pPr>
            <a:r>
              <a:rPr lang="en-US" sz="1400" b="1" dirty="0">
                <a:solidFill>
                  <a:srgbClr val="1B3A6B"/>
                </a:solidFill>
                <a:latin typeface="Georgia" pitchFamily="34" charset="0"/>
                <a:ea typeface="Georgia" pitchFamily="34" charset="-122"/>
                <a:cs typeface="Georgia" pitchFamily="34" charset="-120"/>
              </a:rPr>
              <a:t>Optimal Weekly Policy (T = 26)</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00600" y="1389888"/>
          <a:ext cx="3931920" cy="3627120"/>
        </p:xfrm>
        <a:graphic>
          <a:graphicData uri="http://schemas.openxmlformats.org/drawingml/2006/table">
            <a:tbl>
              <a:tblPr/>
              <a:tblGrid>
                <a:gridCol w="5943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4688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Week</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R_obs (Mm³)</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u(t)</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S_opt (Mm³)</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3.30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384</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8.21</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387</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6.27</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410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9.47</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414</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12.06</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409</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18.43</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398</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15.91</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389</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11.27</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385</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12.18</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379</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11.76</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377</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r h="24688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10.70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393</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11"/>
                  </a:ext>
                </a:extLst>
              </a:tr>
              <a:tr h="246888">
                <a:tc>
                  <a:txBody>
                    <a:bodyPr/>
                    <a:lstStyle/>
                    <a:p>
                      <a:pPr marL="0" indent="0">
                        <a:buNone/>
                      </a:pPr>
                      <a:r>
                        <a:rPr lang="en-US" sz="1100" dirty="0">
                          <a:solidFill>
                            <a:srgbClr val="6B7A8D"/>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6B7A8D"/>
                          </a:solidFill>
                          <a:latin typeface="Calibri" pitchFamily="34" charset="0"/>
                          <a:ea typeface="Calibri" pitchFamily="34" charset="-122"/>
                          <a:cs typeface="Calibri" pitchFamily="34" charset="-120"/>
                        </a:rPr>
                        <a:t>10.38</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6B7A8D"/>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dirty="0">
                          <a:solidFill>
                            <a:srgbClr val="6B7A8D"/>
                          </a:solidFill>
                          <a:latin typeface="Calibri" pitchFamily="34" charset="0"/>
                          <a:ea typeface="Calibri" pitchFamily="34" charset="-122"/>
                          <a:cs typeface="Calibri" pitchFamily="34" charset="-120"/>
                        </a:rPr>
                        <a:t>390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12"/>
                  </a:ext>
                </a:extLst>
              </a:tr>
              <a:tr h="246888">
                <a:tc>
                  <a:txBody>
                    <a:bodyPr/>
                    <a:lstStyle/>
                    <a:p>
                      <a:pPr marL="0" indent="0">
                        <a:buNone/>
                      </a:pPr>
                      <a:r>
                        <a:rPr lang="en-US" sz="1100" i="1" dirty="0">
                          <a:solidFill>
                            <a:srgbClr val="6B7A8D"/>
                          </a:solidFill>
                          <a:latin typeface="Calibri" pitchFamily="34" charset="0"/>
                          <a:ea typeface="Calibri" pitchFamily="34" charset="-122"/>
                          <a:cs typeface="Calibri" pitchFamily="34" charset="-120"/>
                        </a:rPr>
                        <a:t>13–26</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i="1" dirty="0">
                          <a:solidFill>
                            <a:srgbClr val="6B7A8D"/>
                          </a:solidFill>
                          <a:latin typeface="Calibri" pitchFamily="34" charset="0"/>
                          <a:ea typeface="Calibri" pitchFamily="34" charset="-122"/>
                          <a:cs typeface="Calibri" pitchFamily="34" charset="-120"/>
                        </a:rPr>
                        <a:t>(varies)</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i="1" dirty="0">
                          <a:solidFill>
                            <a:srgbClr val="6B7A8D"/>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tc>
                  <a:txBody>
                    <a:bodyPr/>
                    <a:lstStyle/>
                    <a:p>
                      <a:pPr marL="0" indent="0">
                        <a:buNone/>
                      </a:pPr>
                      <a:r>
                        <a:rPr lang="en-US" sz="1100" i="1" dirty="0">
                          <a:solidFill>
                            <a:srgbClr val="6B7A8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7F9FC"/>
                    </a:solidFill>
                  </a:tcPr>
                </a:tc>
                <a:extLst>
                  <a:ext uri="{0D108BD9-81ED-4DB2-BD59-A6C34878D82A}">
                    <a16:rowId xmlns:a16="http://schemas.microsoft.com/office/drawing/2014/main" val="10013"/>
                  </a:ext>
                </a:extLst>
              </a:tr>
            </a:tbl>
          </a:graphicData>
        </a:graphic>
      </p:graphicFrame>
      <p:sp>
        <p:nvSpPr>
          <p:cNvPr id="12" name="Text 9"/>
          <p:cNvSpPr/>
          <p:nvPr/>
        </p:nvSpPr>
        <p:spPr>
          <a:xfrm>
            <a:off x="211015" y="4669536"/>
            <a:ext cx="4607169" cy="347472"/>
          </a:xfrm>
          <a:prstGeom prst="rect">
            <a:avLst/>
          </a:prstGeom>
          <a:noFill/>
          <a:ln/>
        </p:spPr>
        <p:txBody>
          <a:bodyPr wrap="square" rtlCol="0" anchor="ctr"/>
          <a:lstStyle/>
          <a:p>
            <a:pPr marL="0" indent="0">
              <a:buNone/>
            </a:pPr>
            <a:r>
              <a:rPr lang="en-US" sz="950" i="1" dirty="0">
                <a:solidFill>
                  <a:srgbClr val="6B7A8D"/>
                </a:solidFill>
                <a:latin typeface="Calibri" pitchFamily="34" charset="0"/>
                <a:ea typeface="Calibri" pitchFamily="34" charset="-122"/>
                <a:cs typeface="Calibri" pitchFamily="34" charset="-120"/>
              </a:rPr>
              <a:t>11 weeks conserving, 15 weeks at u=0.</a:t>
            </a:r>
            <a:endParaRPr lang="en-US" sz="950" dirty="0"/>
          </a:p>
          <a:p>
            <a:pPr marL="0" indent="0">
              <a:buNone/>
            </a:pPr>
            <a:r>
              <a:rPr lang="en-US" sz="950" i="1" dirty="0">
                <a:solidFill>
                  <a:srgbClr val="6B7A8D"/>
                </a:solidFill>
                <a:latin typeface="Calibri" pitchFamily="34" charset="0"/>
                <a:ea typeface="Calibri" pitchFamily="34" charset="-122"/>
                <a:cs typeface="Calibri" pitchFamily="34" charset="-120"/>
              </a:rPr>
              <a:t>Cumulative adjustment: −30.85 Mm³  (within ±31.15 Mm³ budget).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86868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04672"/>
            <a:ext cx="9144000" cy="64008"/>
          </a:xfrm>
          <a:prstGeom prst="rect">
            <a:avLst/>
          </a:prstGeom>
          <a:solidFill>
            <a:srgbClr val="2DC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7800000" cy="868680"/>
          </a:xfrm>
          <a:prstGeom prst="rect">
            <a:avLst/>
          </a:prstGeom>
          <a:noFill/>
        </p:spPr>
        <p:txBody>
          <a:bodyPr wrap="square" lIns="0" tIns="0" rIns="0" bIns="0" anchor="ctr">
            <a:spAutoFit/>
          </a:bodyPr>
          <a:lstStyle/>
          <a:p>
            <a:pPr algn="l">
              <a:spcAft>
                <a:spcPts val="0"/>
              </a:spcAft>
            </a:pPr>
            <a:r>
              <a:rPr sz="2200" b="1" i="0">
                <a:solidFill>
                  <a:srgbClr val="FFFFFF"/>
                </a:solidFill>
                <a:latin typeface="Georgia"/>
              </a:rPr>
              <a:t>Optimized Policy — Results Visualized</a:t>
            </a:r>
          </a:p>
        </p:txBody>
      </p:sp>
      <p:sp>
        <p:nvSpPr>
          <p:cNvPr id="5" name="TextBox 4"/>
          <p:cNvSpPr txBox="1"/>
          <p:nvPr/>
        </p:nvSpPr>
        <p:spPr>
          <a:xfrm>
            <a:off x="7000000" y="0"/>
            <a:ext cx="1700000" cy="868680"/>
          </a:xfrm>
          <a:prstGeom prst="rect">
            <a:avLst/>
          </a:prstGeom>
          <a:noFill/>
        </p:spPr>
        <p:txBody>
          <a:bodyPr wrap="square" lIns="0" tIns="0" rIns="0" bIns="0" anchor="ctr">
            <a:spAutoFit/>
          </a:bodyPr>
          <a:lstStyle/>
          <a:p>
            <a:pPr algn="r">
              <a:spcAft>
                <a:spcPts val="0"/>
              </a:spcAft>
            </a:pPr>
            <a:r>
              <a:rPr sz="1100" b="1" i="0">
                <a:solidFill>
                  <a:srgbClr val="CADCFC"/>
                </a:solidFill>
                <a:latin typeface="Calibri"/>
              </a:rPr>
              <a:t>T = 26  ·  L = 5</a:t>
            </a:r>
          </a:p>
        </p:txBody>
      </p:sp>
      <p:sp>
        <p:nvSpPr>
          <p:cNvPr id="6" name="Rounded Rectangle 5"/>
          <p:cNvSpPr/>
          <p:nvPr/>
        </p:nvSpPr>
        <p:spPr>
          <a:xfrm>
            <a:off x="457200" y="1000000"/>
            <a:ext cx="2649866" cy="62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7200" y="1070000"/>
            <a:ext cx="2369866" cy="320000"/>
          </a:xfrm>
          <a:prstGeom prst="rect">
            <a:avLst/>
          </a:prstGeom>
          <a:noFill/>
        </p:spPr>
        <p:txBody>
          <a:bodyPr wrap="square" lIns="0" tIns="0" rIns="0" bIns="0" anchor="t">
            <a:spAutoFit/>
          </a:bodyPr>
          <a:lstStyle/>
          <a:p>
            <a:pPr algn="l">
              <a:spcAft>
                <a:spcPts val="0"/>
              </a:spcAft>
            </a:pPr>
            <a:r>
              <a:rPr sz="1800" b="1" i="0">
                <a:solidFill>
                  <a:srgbClr val="0E7C7B"/>
                </a:solidFill>
                <a:latin typeface="Georgia"/>
              </a:rPr>
              <a:t>311.5 → 280.7 Mm³</a:t>
            </a:r>
          </a:p>
        </p:txBody>
      </p:sp>
      <p:sp>
        <p:nvSpPr>
          <p:cNvPr id="8" name="TextBox 7"/>
          <p:cNvSpPr txBox="1"/>
          <p:nvPr/>
        </p:nvSpPr>
        <p:spPr>
          <a:xfrm>
            <a:off x="597200" y="1370000"/>
            <a:ext cx="2369866" cy="220000"/>
          </a:xfrm>
          <a:prstGeom prst="rect">
            <a:avLst/>
          </a:prstGeom>
          <a:noFill/>
        </p:spPr>
        <p:txBody>
          <a:bodyPr wrap="square" lIns="0" tIns="0" rIns="0" bIns="0" anchor="t">
            <a:spAutoFit/>
          </a:bodyPr>
          <a:lstStyle/>
          <a:p>
            <a:pPr algn="l">
              <a:spcAft>
                <a:spcPts val="0"/>
              </a:spcAft>
            </a:pPr>
            <a:r>
              <a:rPr sz="950" b="0" i="0">
                <a:solidFill>
                  <a:srgbClr val="6B7A8D"/>
                </a:solidFill>
                <a:latin typeface="Calibri"/>
              </a:rPr>
              <a:t>Total volume released (−9.9%)</a:t>
            </a:r>
          </a:p>
        </p:txBody>
      </p:sp>
      <p:sp>
        <p:nvSpPr>
          <p:cNvPr id="9" name="Rounded Rectangle 8"/>
          <p:cNvSpPr/>
          <p:nvPr/>
        </p:nvSpPr>
        <p:spPr>
          <a:xfrm>
            <a:off x="3247066" y="1000000"/>
            <a:ext cx="2649866" cy="62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7066" y="1070000"/>
            <a:ext cx="2369866" cy="320000"/>
          </a:xfrm>
          <a:prstGeom prst="rect">
            <a:avLst/>
          </a:prstGeom>
          <a:noFill/>
        </p:spPr>
        <p:txBody>
          <a:bodyPr wrap="square" lIns="0" tIns="0" rIns="0" bIns="0" anchor="t">
            <a:spAutoFit/>
          </a:bodyPr>
          <a:lstStyle/>
          <a:p>
            <a:pPr algn="l">
              <a:spcAft>
                <a:spcPts val="0"/>
              </a:spcAft>
            </a:pPr>
            <a:r>
              <a:rPr sz="1800" b="1" i="0">
                <a:solidFill>
                  <a:srgbClr val="0E7C7B"/>
                </a:solidFill>
                <a:latin typeface="Georgia"/>
              </a:rPr>
              <a:t>9.65% → 10.59%</a:t>
            </a:r>
          </a:p>
        </p:txBody>
      </p:sp>
      <p:sp>
        <p:nvSpPr>
          <p:cNvPr id="11" name="TextBox 10"/>
          <p:cNvSpPr txBox="1"/>
          <p:nvPr/>
        </p:nvSpPr>
        <p:spPr>
          <a:xfrm>
            <a:off x="3387066" y="1370000"/>
            <a:ext cx="2369866" cy="220000"/>
          </a:xfrm>
          <a:prstGeom prst="rect">
            <a:avLst/>
          </a:prstGeom>
          <a:noFill/>
        </p:spPr>
        <p:txBody>
          <a:bodyPr wrap="square" lIns="0" tIns="0" rIns="0" bIns="0" anchor="t">
            <a:spAutoFit/>
          </a:bodyPr>
          <a:lstStyle/>
          <a:p>
            <a:pPr algn="l">
              <a:spcAft>
                <a:spcPts val="0"/>
              </a:spcAft>
            </a:pPr>
            <a:r>
              <a:rPr sz="950" b="0" i="0">
                <a:solidFill>
                  <a:srgbClr val="6B7A8D"/>
                </a:solidFill>
                <a:latin typeface="Calibri"/>
              </a:rPr>
              <a:t>Minimum storage vs. capacity</a:t>
            </a:r>
          </a:p>
        </p:txBody>
      </p:sp>
      <p:sp>
        <p:nvSpPr>
          <p:cNvPr id="12" name="Rounded Rectangle 11"/>
          <p:cNvSpPr/>
          <p:nvPr/>
        </p:nvSpPr>
        <p:spPr>
          <a:xfrm>
            <a:off x="6036932" y="1000000"/>
            <a:ext cx="2649866" cy="62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76932" y="1070000"/>
            <a:ext cx="2369866" cy="320000"/>
          </a:xfrm>
          <a:prstGeom prst="rect">
            <a:avLst/>
          </a:prstGeom>
          <a:noFill/>
        </p:spPr>
        <p:txBody>
          <a:bodyPr wrap="square" lIns="0" tIns="0" rIns="0" bIns="0" anchor="t">
            <a:spAutoFit/>
          </a:bodyPr>
          <a:lstStyle/>
          <a:p>
            <a:pPr algn="l">
              <a:spcAft>
                <a:spcPts val="0"/>
              </a:spcAft>
            </a:pPr>
            <a:r>
              <a:rPr sz="1800" b="1" i="0">
                <a:solidFill>
                  <a:srgbClr val="0E7C7B"/>
                </a:solidFill>
                <a:latin typeface="Georgia"/>
              </a:rPr>
              <a:t>30.85 / 31.15 Mm³</a:t>
            </a:r>
          </a:p>
        </p:txBody>
      </p:sp>
      <p:sp>
        <p:nvSpPr>
          <p:cNvPr id="14" name="TextBox 13"/>
          <p:cNvSpPr txBox="1"/>
          <p:nvPr/>
        </p:nvSpPr>
        <p:spPr>
          <a:xfrm>
            <a:off x="6176932" y="1370000"/>
            <a:ext cx="2369866" cy="220000"/>
          </a:xfrm>
          <a:prstGeom prst="rect">
            <a:avLst/>
          </a:prstGeom>
          <a:noFill/>
        </p:spPr>
        <p:txBody>
          <a:bodyPr wrap="square" lIns="0" tIns="0" rIns="0" bIns="0" anchor="t">
            <a:spAutoFit/>
          </a:bodyPr>
          <a:lstStyle/>
          <a:p>
            <a:pPr algn="l">
              <a:spcAft>
                <a:spcPts val="0"/>
              </a:spcAft>
            </a:pPr>
            <a:r>
              <a:rPr sz="950" b="0" i="0">
                <a:solidFill>
                  <a:srgbClr val="6B7A8D"/>
                </a:solidFill>
                <a:latin typeface="Calibri"/>
              </a:rPr>
              <a:t>Cumulative balance budget used (99.0%)</a:t>
            </a:r>
          </a:p>
        </p:txBody>
      </p:sp>
      <p:sp>
        <p:nvSpPr>
          <p:cNvPr id="15" name="Rounded Rectangle 14"/>
          <p:cNvSpPr/>
          <p:nvPr/>
        </p:nvSpPr>
        <p:spPr>
          <a:xfrm>
            <a:off x="457200" y="1770000"/>
            <a:ext cx="4024800" cy="31435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662000" y="1770000"/>
            <a:ext cx="4024800" cy="31435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torage_trajectory_sbs.png"/>
          <p:cNvPicPr>
            <a:picLocks noChangeAspect="1"/>
          </p:cNvPicPr>
          <p:nvPr/>
        </p:nvPicPr>
        <p:blipFill>
          <a:blip r:embed="rId2"/>
          <a:stretch>
            <a:fillRect/>
          </a:stretch>
        </p:blipFill>
        <p:spPr>
          <a:xfrm>
            <a:off x="517200" y="1981393"/>
            <a:ext cx="3904800" cy="2720714"/>
          </a:xfrm>
          <a:prstGeom prst="rect">
            <a:avLst/>
          </a:prstGeom>
        </p:spPr>
      </p:pic>
      <p:pic>
        <p:nvPicPr>
          <p:cNvPr id="18" name="Picture 17" descr="weekly_discharge_sbs.png"/>
          <p:cNvPicPr>
            <a:picLocks noChangeAspect="1"/>
          </p:cNvPicPr>
          <p:nvPr/>
        </p:nvPicPr>
        <p:blipFill>
          <a:blip r:embed="rId3"/>
          <a:stretch>
            <a:fillRect/>
          </a:stretch>
        </p:blipFill>
        <p:spPr>
          <a:xfrm>
            <a:off x="4722000" y="1981393"/>
            <a:ext cx="3904800" cy="27207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txBody>
          <a:bodyPr/>
          <a:lstStyle/>
          <a:p>
            <a:endParaRPr lang="es-MX"/>
          </a:p>
        </p:txBody>
      </p:sp>
      <p:sp>
        <p:nvSpPr>
          <p:cNvPr id="3" name="Shape 1"/>
          <p:cNvSpPr/>
          <p:nvPr/>
        </p:nvSpPr>
        <p:spPr>
          <a:xfrm>
            <a:off x="0" y="804672"/>
            <a:ext cx="9144000" cy="64008"/>
          </a:xfrm>
          <a:prstGeom prst="rect">
            <a:avLst/>
          </a:prstGeom>
          <a:solidFill>
            <a:srgbClr val="2DC9A4"/>
          </a:solidFill>
          <a:ln w="12700">
            <a:solidFill>
              <a:srgbClr val="2DC9A4"/>
            </a:solidFill>
            <a:prstDash val="solid"/>
          </a:ln>
        </p:spPr>
        <p:txBody>
          <a:bodyPr/>
          <a:lstStyle/>
          <a:p>
            <a:endParaRPr lang="es-MX"/>
          </a:p>
        </p:txBody>
      </p:sp>
      <p:sp>
        <p:nvSpPr>
          <p:cNvPr id="4" name="Text 2"/>
          <p:cNvSpPr/>
          <p:nvPr/>
        </p:nvSpPr>
        <p:spPr>
          <a:xfrm>
            <a:off x="457200" y="0"/>
            <a:ext cx="6858000" cy="8686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Benchmarking &amp; Scaling</a:t>
            </a:r>
            <a:endParaRPr lang="en-US" sz="2600" dirty="0"/>
          </a:p>
        </p:txBody>
      </p:sp>
      <p:sp>
        <p:nvSpPr>
          <p:cNvPr id="6" name="Text 4"/>
          <p:cNvSpPr/>
          <p:nvPr/>
        </p:nvSpPr>
        <p:spPr>
          <a:xfrm>
            <a:off x="457200" y="987552"/>
            <a:ext cx="8229600" cy="292608"/>
          </a:xfrm>
          <a:prstGeom prst="rect">
            <a:avLst/>
          </a:prstGeom>
          <a:noFill/>
          <a:ln/>
        </p:spPr>
        <p:txBody>
          <a:bodyPr wrap="square" rtlCol="0" anchor="ctr"/>
          <a:lstStyle/>
          <a:p>
            <a:pPr marL="0" indent="0" algn="ctr">
              <a:buNone/>
            </a:pPr>
            <a:r>
              <a:rPr lang="en-US" sz="1300" b="1" dirty="0">
                <a:solidFill>
                  <a:srgbClr val="1B3A6B"/>
                </a:solidFill>
                <a:latin typeface="Georgia" pitchFamily="34" charset="0"/>
                <a:ea typeface="Georgia" pitchFamily="34" charset="-122"/>
                <a:cs typeface="Georgia" pitchFamily="34" charset="-120"/>
              </a:rPr>
              <a:t>Official Benchmark Comparison  (T = 26, L = 5,  Smax = 3,288,726,000 m³)</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16736"/>
          <a:ext cx="8138160" cy="1572768"/>
        </p:xfrm>
        <a:graphic>
          <a:graphicData uri="http://schemas.openxmlformats.org/drawingml/2006/table">
            <a:tbl>
              <a:tblPr/>
              <a:tblGrid>
                <a:gridCol w="3200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9319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SRS</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ΔSRS vs hist.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Feasible</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Runtime</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Historical  (u = 0)</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−0.311534</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+0.000000</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Threshold Rule  (balanced)</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−0.290423</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+0.021111</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&lt; 0.01 s</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Dynamic Programming (exact)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−0.290423</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+0.021111</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0.020 s</a:t>
                      </a:r>
                      <a:endParaRPr lang="en-US" sz="12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5"/>
          <p:cNvSpPr/>
          <p:nvPr/>
        </p:nvSpPr>
        <p:spPr>
          <a:xfrm>
            <a:off x="457200" y="2971800"/>
            <a:ext cx="8229600" cy="475488"/>
          </a:xfrm>
          <a:prstGeom prst="roundRect">
            <a:avLst>
              <a:gd name="adj" fmla="val 15385"/>
            </a:avLst>
          </a:prstGeom>
          <a:solidFill>
            <a:srgbClr val="F0FBF8"/>
          </a:solidFill>
          <a:ln w="12700">
            <a:solidFill>
              <a:srgbClr val="0E7C7B"/>
            </a:solidFill>
            <a:prstDash val="solid"/>
          </a:ln>
        </p:spPr>
        <p:txBody>
          <a:bodyPr/>
          <a:lstStyle/>
          <a:p>
            <a:endParaRPr lang="es-MX"/>
          </a:p>
        </p:txBody>
      </p:sp>
      <p:sp>
        <p:nvSpPr>
          <p:cNvPr id="9" name="Text 6"/>
          <p:cNvSpPr/>
          <p:nvPr/>
        </p:nvSpPr>
        <p:spPr>
          <a:xfrm>
            <a:off x="594360" y="2999232"/>
            <a:ext cx="7955280" cy="411480"/>
          </a:xfrm>
          <a:prstGeom prst="rect">
            <a:avLst/>
          </a:prstGeom>
          <a:noFill/>
          <a:ln/>
        </p:spPr>
        <p:txBody>
          <a:bodyPr wrap="square" rtlCol="0" anchor="ctr"/>
          <a:lstStyle/>
          <a:p>
            <a:pPr marL="0" indent="0">
              <a:buNone/>
            </a:pPr>
            <a:r>
              <a:rPr lang="en-US" sz="1100" dirty="0">
                <a:solidFill>
                  <a:srgbClr val="1A2332"/>
                </a:solidFill>
                <a:latin typeface="Calibri" pitchFamily="34" charset="0"/>
                <a:ea typeface="Calibri" pitchFamily="34" charset="-122"/>
                <a:cs typeface="Calibri" pitchFamily="34" charset="-120"/>
              </a:rPr>
              <a:t>✓  Brute-force (T = 12, L = 3,  3¹² = 531,441 schedules, 4.93 s) gives dSRS_vs_dp = 0.000000 — DP is formally verified as optimal within the discrete level set.</a:t>
            </a:r>
            <a:endParaRPr lang="en-US" sz="1100" dirty="0"/>
          </a:p>
        </p:txBody>
      </p:sp>
      <p:sp>
        <p:nvSpPr>
          <p:cNvPr id="10" name="Text 7"/>
          <p:cNvSpPr/>
          <p:nvPr/>
        </p:nvSpPr>
        <p:spPr>
          <a:xfrm>
            <a:off x="457200" y="3493008"/>
            <a:ext cx="8229600" cy="292608"/>
          </a:xfrm>
          <a:prstGeom prst="rect">
            <a:avLst/>
          </a:prstGeom>
          <a:noFill/>
          <a:ln/>
        </p:spPr>
        <p:txBody>
          <a:bodyPr wrap="square" rtlCol="0" anchor="ctr"/>
          <a:lstStyle/>
          <a:p>
            <a:pPr marL="0" indent="0">
              <a:buNone/>
            </a:pPr>
            <a:r>
              <a:rPr lang="en-US" sz="1300" b="1" dirty="0">
                <a:solidFill>
                  <a:srgbClr val="1B3A6B"/>
                </a:solidFill>
                <a:latin typeface="Georgia" pitchFamily="34" charset="0"/>
                <a:ea typeface="Georgia" pitchFamily="34" charset="-122"/>
                <a:cs typeface="Georgia" pitchFamily="34" charset="-120"/>
              </a:rPr>
              <a:t>Scaling Analysis  (classical DP — real results from team runs)</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3395807482"/>
              </p:ext>
            </p:extLst>
          </p:nvPr>
        </p:nvGraphicFramePr>
        <p:xfrm>
          <a:off x="457200" y="3771548"/>
          <a:ext cx="7223760" cy="1257300"/>
        </p:xfrm>
        <a:graphic>
          <a:graphicData uri="http://schemas.openxmlformats.org/drawingml/2006/table">
            <a:tbl>
              <a:tblPr/>
              <a:tblGrid>
                <a:gridCol w="9144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23774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Instance</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E7C7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E7C7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E7C7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L^T (schedules)</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E7C7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ΔSRS  (DP)</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E7C7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Runtime</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23774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Debug</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3⁵  =  243</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+0.000000  (u*=0)</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&lt; 0.001 s</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3¹²  ≈  5×10⁵</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+0.000000  (u*=0)</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~0.004 s</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774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5²⁶  ≈  1.5×10¹⁸</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+0.021111</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0.020 s</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Large</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52</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5⁵²  ≈  2×10³⁶</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+0.051236</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0.51 s</a:t>
                      </a:r>
                      <a:endParaRPr lang="en-US" sz="10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86868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04672"/>
            <a:ext cx="9144000" cy="64008"/>
          </a:xfrm>
          <a:prstGeom prst="rect">
            <a:avLst/>
          </a:prstGeom>
          <a:solidFill>
            <a:srgbClr val="2DC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7800000" cy="868680"/>
          </a:xfrm>
          <a:prstGeom prst="rect">
            <a:avLst/>
          </a:prstGeom>
          <a:noFill/>
        </p:spPr>
        <p:txBody>
          <a:bodyPr wrap="square" lIns="0" tIns="0" rIns="0" bIns="0" anchor="ctr">
            <a:spAutoFit/>
          </a:bodyPr>
          <a:lstStyle/>
          <a:p>
            <a:pPr algn="l">
              <a:spcAft>
                <a:spcPts val="0"/>
              </a:spcAft>
            </a:pPr>
            <a:r>
              <a:rPr sz="2200" b="1" i="0">
                <a:solidFill>
                  <a:srgbClr val="FFFFFF"/>
                </a:solidFill>
                <a:latin typeface="Georgia"/>
              </a:rPr>
              <a:t>Extended Benchmark Comparison</a:t>
            </a:r>
          </a:p>
        </p:txBody>
      </p:sp>
      <p:sp>
        <p:nvSpPr>
          <p:cNvPr id="5" name="TextBox 4"/>
          <p:cNvSpPr txBox="1"/>
          <p:nvPr/>
        </p:nvSpPr>
        <p:spPr>
          <a:xfrm>
            <a:off x="7000000" y="0"/>
            <a:ext cx="1700000" cy="868680"/>
          </a:xfrm>
          <a:prstGeom prst="rect">
            <a:avLst/>
          </a:prstGeom>
          <a:noFill/>
        </p:spPr>
        <p:txBody>
          <a:bodyPr wrap="square" lIns="0" tIns="0" rIns="0" bIns="0" anchor="ctr">
            <a:spAutoFit/>
          </a:bodyPr>
          <a:lstStyle/>
          <a:p>
            <a:pPr algn="r">
              <a:spcAft>
                <a:spcPts val="0"/>
              </a:spcAft>
            </a:pPr>
            <a:r>
              <a:rPr sz="1100" b="1" i="0">
                <a:solidFill>
                  <a:srgbClr val="CADCFC"/>
                </a:solidFill>
                <a:latin typeface="Calibri"/>
              </a:rPr>
              <a:t>T = 26  ·  L = 5  ·  all methods</a:t>
            </a:r>
          </a:p>
        </p:txBody>
      </p:sp>
      <p:graphicFrame>
        <p:nvGraphicFramePr>
          <p:cNvPr id="6" name="Table 5"/>
          <p:cNvGraphicFramePr>
            <a:graphicFrameLocks noGrp="1"/>
          </p:cNvGraphicFramePr>
          <p:nvPr/>
        </p:nvGraphicFramePr>
        <p:xfrm>
          <a:off x="457200" y="1000000"/>
          <a:ext cx="8230000" cy="2150000"/>
        </p:xfrm>
        <a:graphic>
          <a:graphicData uri="http://schemas.openxmlformats.org/drawingml/2006/table">
            <a:tbl>
              <a:tblPr/>
              <a:tblGrid>
                <a:gridCol w="2650000">
                  <a:extLst>
                    <a:ext uri="{9D8B030D-6E8A-4147-A177-3AD203B41FA5}">
                      <a16:colId xmlns:a16="http://schemas.microsoft.com/office/drawing/2014/main" val="20000"/>
                    </a:ext>
                  </a:extLst>
                </a:gridCol>
                <a:gridCol w="115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550000">
                  <a:extLst>
                    <a:ext uri="{9D8B030D-6E8A-4147-A177-3AD203B41FA5}">
                      <a16:colId xmlns:a16="http://schemas.microsoft.com/office/drawing/2014/main" val="20003"/>
                    </a:ext>
                  </a:extLst>
                </a:gridCol>
                <a:gridCol w="1580000">
                  <a:extLst>
                    <a:ext uri="{9D8B030D-6E8A-4147-A177-3AD203B41FA5}">
                      <a16:colId xmlns:a16="http://schemas.microsoft.com/office/drawing/2014/main" val="20004"/>
                    </a:ext>
                  </a:extLst>
                </a:gridCol>
              </a:tblGrid>
              <a:tr h="358333">
                <a:tc>
                  <a:txBody>
                    <a:bodyPr/>
                    <a:lstStyle/>
                    <a:p>
                      <a:pPr algn="l"/>
                      <a:r>
                        <a:rPr sz="1050" b="1">
                          <a:solidFill>
                            <a:srgbClr val="FFFFFF"/>
                          </a:solidFill>
                          <a:latin typeface="Calibri"/>
                        </a:rPr>
                        <a:t>Method</a:t>
                      </a:r>
                    </a:p>
                  </a:txBody>
                  <a:tcPr marL="45000" marR="45000" marT="20000" marB="20000" anchor="ctr">
                    <a:solidFill>
                      <a:srgbClr val="1B3A6B"/>
                    </a:solidFill>
                  </a:tcPr>
                </a:tc>
                <a:tc>
                  <a:txBody>
                    <a:bodyPr/>
                    <a:lstStyle/>
                    <a:p>
                      <a:pPr algn="r"/>
                      <a:r>
                        <a:rPr sz="1050" b="1">
                          <a:solidFill>
                            <a:srgbClr val="FFFFFF"/>
                          </a:solidFill>
                          <a:latin typeface="Calibri"/>
                        </a:rPr>
                        <a:t>SRS</a:t>
                      </a:r>
                    </a:p>
                  </a:txBody>
                  <a:tcPr marL="45000" marR="45000" marT="20000" marB="20000" anchor="ctr">
                    <a:solidFill>
                      <a:srgbClr val="1B3A6B"/>
                    </a:solidFill>
                  </a:tcPr>
                </a:tc>
                <a:tc>
                  <a:txBody>
                    <a:bodyPr/>
                    <a:lstStyle/>
                    <a:p>
                      <a:pPr algn="r"/>
                      <a:r>
                        <a:rPr sz="1050" b="1">
                          <a:solidFill>
                            <a:srgbClr val="FFFFFF"/>
                          </a:solidFill>
                          <a:latin typeface="Calibri"/>
                        </a:rPr>
                        <a:t>ΔSRS vs hist.</a:t>
                      </a:r>
                    </a:p>
                  </a:txBody>
                  <a:tcPr marL="45000" marR="45000" marT="20000" marB="20000" anchor="ctr">
                    <a:solidFill>
                      <a:srgbClr val="1B3A6B"/>
                    </a:solidFill>
                  </a:tcPr>
                </a:tc>
                <a:tc>
                  <a:txBody>
                    <a:bodyPr/>
                    <a:lstStyle/>
                    <a:p>
                      <a:pPr algn="ctr"/>
                      <a:r>
                        <a:rPr sz="1050" b="1">
                          <a:solidFill>
                            <a:srgbClr val="FFFFFF"/>
                          </a:solidFill>
                          <a:latin typeface="Calibri"/>
                        </a:rPr>
                        <a:t>Feasible</a:t>
                      </a:r>
                    </a:p>
                  </a:txBody>
                  <a:tcPr marL="45000" marR="45000" marT="20000" marB="20000" anchor="ctr">
                    <a:solidFill>
                      <a:srgbClr val="1B3A6B"/>
                    </a:solidFill>
                  </a:tcPr>
                </a:tc>
                <a:tc>
                  <a:txBody>
                    <a:bodyPr/>
                    <a:lstStyle/>
                    <a:p>
                      <a:pPr algn="r"/>
                      <a:r>
                        <a:rPr sz="1050" b="1">
                          <a:solidFill>
                            <a:srgbClr val="FFFFFF"/>
                          </a:solidFill>
                          <a:latin typeface="Calibri"/>
                        </a:rPr>
                        <a:t>Runtime</a:t>
                      </a:r>
                    </a:p>
                  </a:txBody>
                  <a:tcPr marL="45000" marR="45000" marT="20000" marB="20000" anchor="ctr">
                    <a:solidFill>
                      <a:srgbClr val="1B3A6B"/>
                    </a:solidFill>
                  </a:tcPr>
                </a:tc>
                <a:extLst>
                  <a:ext uri="{0D108BD9-81ED-4DB2-BD59-A6C34878D82A}">
                    <a16:rowId xmlns:a16="http://schemas.microsoft.com/office/drawing/2014/main" val="10000"/>
                  </a:ext>
                </a:extLst>
              </a:tr>
              <a:tr h="358333">
                <a:tc>
                  <a:txBody>
                    <a:bodyPr/>
                    <a:lstStyle/>
                    <a:p>
                      <a:pPr algn="l"/>
                      <a:r>
                        <a:rPr sz="1050" b="0">
                          <a:solidFill>
                            <a:srgbClr val="1A2332"/>
                          </a:solidFill>
                          <a:latin typeface="Calibri"/>
                        </a:rPr>
                        <a:t>Historical  (u = 0)</a:t>
                      </a:r>
                    </a:p>
                  </a:txBody>
                  <a:tcPr marL="45000" marR="45000" marT="20000" marB="20000" anchor="ctr">
                    <a:solidFill>
                      <a:srgbClr val="FFFFFF"/>
                    </a:solidFill>
                  </a:tcPr>
                </a:tc>
                <a:tc>
                  <a:txBody>
                    <a:bodyPr/>
                    <a:lstStyle/>
                    <a:p>
                      <a:pPr algn="r"/>
                      <a:r>
                        <a:rPr sz="1050" b="0">
                          <a:solidFill>
                            <a:srgbClr val="1A2332"/>
                          </a:solidFill>
                          <a:latin typeface="Calibri"/>
                        </a:rPr>
                        <a:t>−0.311534</a:t>
                      </a:r>
                    </a:p>
                  </a:txBody>
                  <a:tcPr marL="45000" marR="45000" marT="20000" marB="20000" anchor="ctr">
                    <a:solidFill>
                      <a:srgbClr val="FFFFFF"/>
                    </a:solidFill>
                  </a:tcPr>
                </a:tc>
                <a:tc>
                  <a:txBody>
                    <a:bodyPr/>
                    <a:lstStyle/>
                    <a:p>
                      <a:pPr algn="r"/>
                      <a:r>
                        <a:rPr sz="1050" b="0">
                          <a:solidFill>
                            <a:srgbClr val="1A2332"/>
                          </a:solidFill>
                          <a:latin typeface="Calibri"/>
                        </a:rPr>
                        <a:t>+0.000000</a:t>
                      </a:r>
                    </a:p>
                  </a:txBody>
                  <a:tcPr marL="45000" marR="45000" marT="20000" marB="20000" anchor="ctr">
                    <a:solidFill>
                      <a:srgbClr val="FFFFFF"/>
                    </a:solidFill>
                  </a:tcPr>
                </a:tc>
                <a:tc>
                  <a:txBody>
                    <a:bodyPr/>
                    <a:lstStyle/>
                    <a:p>
                      <a:pPr algn="ctr"/>
                      <a:r>
                        <a:rPr sz="1050" b="1">
                          <a:solidFill>
                            <a:srgbClr val="0E7C7B"/>
                          </a:solidFill>
                          <a:latin typeface="Calibri"/>
                        </a:rPr>
                        <a:t>✓</a:t>
                      </a:r>
                    </a:p>
                  </a:txBody>
                  <a:tcPr marL="45000" marR="45000" marT="20000" marB="20000" anchor="ctr">
                    <a:solidFill>
                      <a:srgbClr val="FFFFFF"/>
                    </a:solidFill>
                  </a:tcPr>
                </a:tc>
                <a:tc>
                  <a:txBody>
                    <a:bodyPr/>
                    <a:lstStyle/>
                    <a:p>
                      <a:pPr algn="r"/>
                      <a:r>
                        <a:rPr sz="1050" b="0">
                          <a:solidFill>
                            <a:srgbClr val="1A2332"/>
                          </a:solidFill>
                          <a:latin typeface="Calibri"/>
                        </a:rPr>
                        <a:t>—</a:t>
                      </a:r>
                    </a:p>
                  </a:txBody>
                  <a:tcPr marL="45000" marR="45000" marT="20000" marB="20000" anchor="ctr">
                    <a:solidFill>
                      <a:srgbClr val="FFFFFF"/>
                    </a:solidFill>
                  </a:tcPr>
                </a:tc>
                <a:extLst>
                  <a:ext uri="{0D108BD9-81ED-4DB2-BD59-A6C34878D82A}">
                    <a16:rowId xmlns:a16="http://schemas.microsoft.com/office/drawing/2014/main" val="10001"/>
                  </a:ext>
                </a:extLst>
              </a:tr>
              <a:tr h="358333">
                <a:tc>
                  <a:txBody>
                    <a:bodyPr/>
                    <a:lstStyle/>
                    <a:p>
                      <a:pPr algn="l"/>
                      <a:r>
                        <a:rPr sz="1050" b="0">
                          <a:solidFill>
                            <a:srgbClr val="1A2332"/>
                          </a:solidFill>
                          <a:latin typeface="Calibri"/>
                        </a:rPr>
                        <a:t>Threshold Rule  (literal, Eq. 18)</a:t>
                      </a:r>
                    </a:p>
                  </a:txBody>
                  <a:tcPr marL="45000" marR="45000" marT="20000" marB="20000" anchor="ctr">
                    <a:solidFill>
                      <a:srgbClr val="FFF4F4"/>
                    </a:solidFill>
                  </a:tcPr>
                </a:tc>
                <a:tc>
                  <a:txBody>
                    <a:bodyPr/>
                    <a:lstStyle/>
                    <a:p>
                      <a:pPr algn="r"/>
                      <a:r>
                        <a:rPr sz="1050" b="0">
                          <a:solidFill>
                            <a:srgbClr val="1A2332"/>
                          </a:solidFill>
                          <a:latin typeface="Calibri"/>
                        </a:rPr>
                        <a:t>−0.288934</a:t>
                      </a:r>
                    </a:p>
                  </a:txBody>
                  <a:tcPr marL="45000" marR="45000" marT="20000" marB="20000" anchor="ctr">
                    <a:solidFill>
                      <a:srgbClr val="FFF4F4"/>
                    </a:solidFill>
                  </a:tcPr>
                </a:tc>
                <a:tc>
                  <a:txBody>
                    <a:bodyPr/>
                    <a:lstStyle/>
                    <a:p>
                      <a:pPr algn="r"/>
                      <a:r>
                        <a:rPr sz="1050" b="0">
                          <a:solidFill>
                            <a:srgbClr val="1A2332"/>
                          </a:solidFill>
                          <a:latin typeface="Calibri"/>
                        </a:rPr>
                        <a:t>+0.022600</a:t>
                      </a:r>
                    </a:p>
                  </a:txBody>
                  <a:tcPr marL="45000" marR="45000" marT="20000" marB="20000" anchor="ctr">
                    <a:solidFill>
                      <a:srgbClr val="FFF4F4"/>
                    </a:solidFill>
                  </a:tcPr>
                </a:tc>
                <a:tc>
                  <a:txBody>
                    <a:bodyPr/>
                    <a:lstStyle/>
                    <a:p>
                      <a:pPr algn="ctr"/>
                      <a:r>
                        <a:rPr sz="1050" b="1">
                          <a:solidFill>
                            <a:srgbClr val="C0392B"/>
                          </a:solidFill>
                          <a:latin typeface="Calibri"/>
                        </a:rPr>
                        <a:t>✗  balance violated</a:t>
                      </a:r>
                    </a:p>
                  </a:txBody>
                  <a:tcPr marL="45000" marR="45000" marT="20000" marB="20000" anchor="ctr">
                    <a:solidFill>
                      <a:srgbClr val="FFF4F4"/>
                    </a:solidFill>
                  </a:tcPr>
                </a:tc>
                <a:tc>
                  <a:txBody>
                    <a:bodyPr/>
                    <a:lstStyle/>
                    <a:p>
                      <a:pPr algn="r"/>
                      <a:r>
                        <a:rPr sz="1050" b="0">
                          <a:solidFill>
                            <a:srgbClr val="1A2332"/>
                          </a:solidFill>
                          <a:latin typeface="Calibri"/>
                        </a:rPr>
                        <a:t>&lt; 0.001 s</a:t>
                      </a:r>
                    </a:p>
                  </a:txBody>
                  <a:tcPr marL="45000" marR="45000" marT="20000" marB="20000" anchor="ctr">
                    <a:solidFill>
                      <a:srgbClr val="FFF4F4"/>
                    </a:solidFill>
                  </a:tcPr>
                </a:tc>
                <a:extLst>
                  <a:ext uri="{0D108BD9-81ED-4DB2-BD59-A6C34878D82A}">
                    <a16:rowId xmlns:a16="http://schemas.microsoft.com/office/drawing/2014/main" val="10002"/>
                  </a:ext>
                </a:extLst>
              </a:tr>
              <a:tr h="358333">
                <a:tc>
                  <a:txBody>
                    <a:bodyPr/>
                    <a:lstStyle/>
                    <a:p>
                      <a:pPr algn="l"/>
                      <a:r>
                        <a:rPr sz="1050" b="0">
                          <a:solidFill>
                            <a:srgbClr val="1A2332"/>
                          </a:solidFill>
                          <a:latin typeface="Calibri"/>
                        </a:rPr>
                        <a:t>Threshold Rule  (balanced)</a:t>
                      </a:r>
                    </a:p>
                  </a:txBody>
                  <a:tcPr marL="45000" marR="45000" marT="20000" marB="20000" anchor="ctr">
                    <a:solidFill>
                      <a:srgbClr val="FFFFFF"/>
                    </a:solidFill>
                  </a:tcPr>
                </a:tc>
                <a:tc>
                  <a:txBody>
                    <a:bodyPr/>
                    <a:lstStyle/>
                    <a:p>
                      <a:pPr algn="r"/>
                      <a:r>
                        <a:rPr sz="1050" b="0">
                          <a:solidFill>
                            <a:srgbClr val="1A2332"/>
                          </a:solidFill>
                          <a:latin typeface="Calibri"/>
                        </a:rPr>
                        <a:t>−0.290423</a:t>
                      </a:r>
                    </a:p>
                  </a:txBody>
                  <a:tcPr marL="45000" marR="45000" marT="20000" marB="20000" anchor="ctr">
                    <a:solidFill>
                      <a:srgbClr val="FFFFFF"/>
                    </a:solidFill>
                  </a:tcPr>
                </a:tc>
                <a:tc>
                  <a:txBody>
                    <a:bodyPr/>
                    <a:lstStyle/>
                    <a:p>
                      <a:pPr algn="r"/>
                      <a:r>
                        <a:rPr sz="1050" b="0">
                          <a:solidFill>
                            <a:srgbClr val="1A2332"/>
                          </a:solidFill>
                          <a:latin typeface="Calibri"/>
                        </a:rPr>
                        <a:t>+0.021111</a:t>
                      </a:r>
                    </a:p>
                  </a:txBody>
                  <a:tcPr marL="45000" marR="45000" marT="20000" marB="20000" anchor="ctr">
                    <a:solidFill>
                      <a:srgbClr val="FFFFFF"/>
                    </a:solidFill>
                  </a:tcPr>
                </a:tc>
                <a:tc>
                  <a:txBody>
                    <a:bodyPr/>
                    <a:lstStyle/>
                    <a:p>
                      <a:pPr algn="ctr"/>
                      <a:r>
                        <a:rPr sz="1050" b="1">
                          <a:solidFill>
                            <a:srgbClr val="0E7C7B"/>
                          </a:solidFill>
                          <a:latin typeface="Calibri"/>
                        </a:rPr>
                        <a:t>✓</a:t>
                      </a:r>
                    </a:p>
                  </a:txBody>
                  <a:tcPr marL="45000" marR="45000" marT="20000" marB="20000" anchor="ctr">
                    <a:solidFill>
                      <a:srgbClr val="FFFFFF"/>
                    </a:solidFill>
                  </a:tcPr>
                </a:tc>
                <a:tc>
                  <a:txBody>
                    <a:bodyPr/>
                    <a:lstStyle/>
                    <a:p>
                      <a:pPr algn="r"/>
                      <a:r>
                        <a:rPr sz="1050" b="0">
                          <a:solidFill>
                            <a:srgbClr val="1A2332"/>
                          </a:solidFill>
                          <a:latin typeface="Calibri"/>
                        </a:rPr>
                        <a:t>&lt; 0.001 s</a:t>
                      </a:r>
                    </a:p>
                  </a:txBody>
                  <a:tcPr marL="45000" marR="45000" marT="20000" marB="20000" anchor="ctr">
                    <a:solidFill>
                      <a:srgbClr val="FFFFFF"/>
                    </a:solidFill>
                  </a:tcPr>
                </a:tc>
                <a:extLst>
                  <a:ext uri="{0D108BD9-81ED-4DB2-BD59-A6C34878D82A}">
                    <a16:rowId xmlns:a16="http://schemas.microsoft.com/office/drawing/2014/main" val="10003"/>
                  </a:ext>
                </a:extLst>
              </a:tr>
              <a:tr h="358333">
                <a:tc>
                  <a:txBody>
                    <a:bodyPr/>
                    <a:lstStyle/>
                    <a:p>
                      <a:pPr algn="l"/>
                      <a:r>
                        <a:rPr sz="1050" b="0">
                          <a:solidFill>
                            <a:srgbClr val="1A2332"/>
                          </a:solidFill>
                          <a:latin typeface="Calibri"/>
                        </a:rPr>
                        <a:t>Dynamic Programming  (exact)</a:t>
                      </a:r>
                    </a:p>
                  </a:txBody>
                  <a:tcPr marL="45000" marR="45000" marT="20000" marB="20000" anchor="ctr">
                    <a:solidFill>
                      <a:srgbClr val="FFFFFF"/>
                    </a:solidFill>
                  </a:tcPr>
                </a:tc>
                <a:tc>
                  <a:txBody>
                    <a:bodyPr/>
                    <a:lstStyle/>
                    <a:p>
                      <a:pPr algn="r"/>
                      <a:r>
                        <a:rPr sz="1050" b="0">
                          <a:solidFill>
                            <a:srgbClr val="1A2332"/>
                          </a:solidFill>
                          <a:latin typeface="Calibri"/>
                        </a:rPr>
                        <a:t>−0.290423</a:t>
                      </a:r>
                    </a:p>
                  </a:txBody>
                  <a:tcPr marL="45000" marR="45000" marT="20000" marB="20000" anchor="ctr">
                    <a:solidFill>
                      <a:srgbClr val="FFFFFF"/>
                    </a:solidFill>
                  </a:tcPr>
                </a:tc>
                <a:tc>
                  <a:txBody>
                    <a:bodyPr/>
                    <a:lstStyle/>
                    <a:p>
                      <a:pPr algn="r"/>
                      <a:r>
                        <a:rPr sz="1050" b="0">
                          <a:solidFill>
                            <a:srgbClr val="1A2332"/>
                          </a:solidFill>
                          <a:latin typeface="Calibri"/>
                        </a:rPr>
                        <a:t>+0.021111</a:t>
                      </a:r>
                    </a:p>
                  </a:txBody>
                  <a:tcPr marL="45000" marR="45000" marT="20000" marB="20000" anchor="ctr">
                    <a:solidFill>
                      <a:srgbClr val="FFFFFF"/>
                    </a:solidFill>
                  </a:tcPr>
                </a:tc>
                <a:tc>
                  <a:txBody>
                    <a:bodyPr/>
                    <a:lstStyle/>
                    <a:p>
                      <a:pPr algn="ctr"/>
                      <a:r>
                        <a:rPr sz="1050" b="1">
                          <a:solidFill>
                            <a:srgbClr val="0E7C7B"/>
                          </a:solidFill>
                          <a:latin typeface="Calibri"/>
                        </a:rPr>
                        <a:t>✓</a:t>
                      </a:r>
                    </a:p>
                  </a:txBody>
                  <a:tcPr marL="45000" marR="45000" marT="20000" marB="20000" anchor="ctr">
                    <a:solidFill>
                      <a:srgbClr val="FFFFFF"/>
                    </a:solidFill>
                  </a:tcPr>
                </a:tc>
                <a:tc>
                  <a:txBody>
                    <a:bodyPr/>
                    <a:lstStyle/>
                    <a:p>
                      <a:pPr algn="r"/>
                      <a:r>
                        <a:rPr sz="1050" b="0">
                          <a:solidFill>
                            <a:srgbClr val="1A2332"/>
                          </a:solidFill>
                          <a:latin typeface="Calibri"/>
                        </a:rPr>
                        <a:t>0.020 s</a:t>
                      </a:r>
                    </a:p>
                  </a:txBody>
                  <a:tcPr marL="45000" marR="45000" marT="20000" marB="20000" anchor="ctr">
                    <a:solidFill>
                      <a:srgbClr val="FFFFFF"/>
                    </a:solidFill>
                  </a:tcPr>
                </a:tc>
                <a:extLst>
                  <a:ext uri="{0D108BD9-81ED-4DB2-BD59-A6C34878D82A}">
                    <a16:rowId xmlns:a16="http://schemas.microsoft.com/office/drawing/2014/main" val="10004"/>
                  </a:ext>
                </a:extLst>
              </a:tr>
              <a:tr h="358335">
                <a:tc>
                  <a:txBody>
                    <a:bodyPr/>
                    <a:lstStyle/>
                    <a:p>
                      <a:pPr algn="l"/>
                      <a:r>
                        <a:rPr sz="1050" b="0">
                          <a:solidFill>
                            <a:srgbClr val="1A2332"/>
                          </a:solidFill>
                          <a:latin typeface="Calibri"/>
                        </a:rPr>
                        <a:t>Simulated Annealing  (quantum-inspired)</a:t>
                      </a:r>
                    </a:p>
                  </a:txBody>
                  <a:tcPr marL="45000" marR="45000" marT="20000" marB="20000" anchor="ctr">
                    <a:solidFill>
                      <a:srgbClr val="FFFFFF"/>
                    </a:solidFill>
                  </a:tcPr>
                </a:tc>
                <a:tc>
                  <a:txBody>
                    <a:bodyPr/>
                    <a:lstStyle/>
                    <a:p>
                      <a:pPr algn="r"/>
                      <a:r>
                        <a:rPr sz="1050" b="0">
                          <a:solidFill>
                            <a:srgbClr val="1A2332"/>
                          </a:solidFill>
                          <a:latin typeface="Calibri"/>
                        </a:rPr>
                        <a:t>−0.291188</a:t>
                      </a:r>
                    </a:p>
                  </a:txBody>
                  <a:tcPr marL="45000" marR="45000" marT="20000" marB="20000" anchor="ctr">
                    <a:solidFill>
                      <a:srgbClr val="FFFFFF"/>
                    </a:solidFill>
                  </a:tcPr>
                </a:tc>
                <a:tc>
                  <a:txBody>
                    <a:bodyPr/>
                    <a:lstStyle/>
                    <a:p>
                      <a:pPr algn="r"/>
                      <a:r>
                        <a:rPr sz="1050" b="0">
                          <a:solidFill>
                            <a:srgbClr val="1A2332"/>
                          </a:solidFill>
                          <a:latin typeface="Calibri"/>
                        </a:rPr>
                        <a:t>+0.020346</a:t>
                      </a:r>
                    </a:p>
                  </a:txBody>
                  <a:tcPr marL="45000" marR="45000" marT="20000" marB="20000" anchor="ctr">
                    <a:solidFill>
                      <a:srgbClr val="FFFFFF"/>
                    </a:solidFill>
                  </a:tcPr>
                </a:tc>
                <a:tc>
                  <a:txBody>
                    <a:bodyPr/>
                    <a:lstStyle/>
                    <a:p>
                      <a:pPr algn="ctr"/>
                      <a:r>
                        <a:rPr sz="1050" b="1">
                          <a:solidFill>
                            <a:srgbClr val="0E7C7B"/>
                          </a:solidFill>
                          <a:latin typeface="Calibri"/>
                        </a:rPr>
                        <a:t>✓</a:t>
                      </a:r>
                    </a:p>
                  </a:txBody>
                  <a:tcPr marL="45000" marR="45000" marT="20000" marB="20000" anchor="ctr">
                    <a:solidFill>
                      <a:srgbClr val="FFFFFF"/>
                    </a:solidFill>
                  </a:tcPr>
                </a:tc>
                <a:tc>
                  <a:txBody>
                    <a:bodyPr/>
                    <a:lstStyle/>
                    <a:p>
                      <a:pPr algn="r"/>
                      <a:r>
                        <a:rPr sz="1050" b="0">
                          <a:solidFill>
                            <a:srgbClr val="1A2332"/>
                          </a:solidFill>
                          <a:latin typeface="Calibri"/>
                        </a:rPr>
                        <a:t>6.594 s</a:t>
                      </a:r>
                    </a:p>
                  </a:txBody>
                  <a:tcPr marL="45000" marR="45000" marT="20000" marB="20000" anchor="ct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457200" y="3310000"/>
            <a:ext cx="8229600" cy="720000"/>
          </a:xfrm>
          <a:prstGeom prst="roundRect">
            <a:avLst>
              <a:gd name="adj" fmla="val 6000"/>
            </a:avLst>
          </a:prstGeom>
          <a:solidFill>
            <a:srgbClr val="FFF4F4"/>
          </a:solidFill>
          <a:ln w="9525">
            <a:solidFill>
              <a:srgbClr val="F0C7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7200" y="3370000"/>
            <a:ext cx="7929600" cy="600000"/>
          </a:xfrm>
          <a:prstGeom prst="rect">
            <a:avLst/>
          </a:prstGeom>
          <a:noFill/>
        </p:spPr>
        <p:txBody>
          <a:bodyPr wrap="square" lIns="0" tIns="0" rIns="0" bIns="0" anchor="t">
            <a:spAutoFit/>
          </a:bodyPr>
          <a:lstStyle/>
          <a:p>
            <a:pPr algn="l">
              <a:lnSpc>
                <a:spcPct val="108000"/>
              </a:lnSpc>
              <a:spcAft>
                <a:spcPts val="0"/>
              </a:spcAft>
            </a:pPr>
            <a:r>
              <a:rPr sz="1050" b="1" i="0">
                <a:solidFill>
                  <a:srgbClr val="C0392B"/>
                </a:solidFill>
                <a:latin typeface="Calibri"/>
              </a:rPr>
              <a:t>Why not report the literal threshold rule as the winner?  </a:t>
            </a:r>
            <a:r>
              <a:rPr sz="1050" b="0" i="0">
                <a:solidFill>
                  <a:srgbClr val="1A2332"/>
                </a:solidFill>
                <a:latin typeface="Calibri"/>
              </a:rPr>
              <a:t>Its SRS is nominally higher, but it reduces releases by 72.9 Mm³ — far beyond the ±31.15 Mm³ cumulative-balance budget — so it is inadmissible under the official constraints.</a:t>
            </a:r>
          </a:p>
        </p:txBody>
      </p:sp>
      <p:sp>
        <p:nvSpPr>
          <p:cNvPr id="9" name="Rounded Rectangle 8"/>
          <p:cNvSpPr/>
          <p:nvPr/>
        </p:nvSpPr>
        <p:spPr>
          <a:xfrm>
            <a:off x="457200" y="4180000"/>
            <a:ext cx="4024800" cy="7335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7200" y="4240000"/>
            <a:ext cx="3744800" cy="260000"/>
          </a:xfrm>
          <a:prstGeom prst="rect">
            <a:avLst/>
          </a:prstGeom>
          <a:noFill/>
        </p:spPr>
        <p:txBody>
          <a:bodyPr wrap="square" lIns="0" tIns="0" rIns="0" bIns="0" anchor="t">
            <a:spAutoFit/>
          </a:bodyPr>
          <a:lstStyle/>
          <a:p>
            <a:pPr algn="l">
              <a:spcAft>
                <a:spcPts val="0"/>
              </a:spcAft>
            </a:pPr>
            <a:r>
              <a:rPr sz="1300" b="1" i="0">
                <a:solidFill>
                  <a:srgbClr val="1B3A6B"/>
                </a:solidFill>
                <a:latin typeface="Georgia"/>
              </a:rPr>
              <a:t>−0.290423 = −0.290423</a:t>
            </a:r>
          </a:p>
        </p:txBody>
      </p:sp>
      <p:sp>
        <p:nvSpPr>
          <p:cNvPr id="11" name="TextBox 10"/>
          <p:cNvSpPr txBox="1"/>
          <p:nvPr/>
        </p:nvSpPr>
        <p:spPr>
          <a:xfrm>
            <a:off x="597200" y="4500000"/>
            <a:ext cx="3744800" cy="353500"/>
          </a:xfrm>
          <a:prstGeom prst="rect">
            <a:avLst/>
          </a:prstGeom>
          <a:noFill/>
        </p:spPr>
        <p:txBody>
          <a:bodyPr wrap="square" lIns="0" tIns="0" rIns="0" bIns="0" anchor="t">
            <a:spAutoFit/>
          </a:bodyPr>
          <a:lstStyle/>
          <a:p>
            <a:pPr algn="l">
              <a:lnSpc>
                <a:spcPct val="105000"/>
              </a:lnSpc>
              <a:spcAft>
                <a:spcPts val="0"/>
              </a:spcAft>
            </a:pPr>
            <a:r>
              <a:rPr sz="950" b="0" i="0">
                <a:solidFill>
                  <a:srgbClr val="6B7A8D"/>
                </a:solidFill>
                <a:latin typeface="Calibri"/>
              </a:rPr>
              <a:t>DP-exact matches the balanced threshold rule exactly — confirms both find the true optimum within the discrete level set.</a:t>
            </a:r>
          </a:p>
        </p:txBody>
      </p:sp>
      <p:sp>
        <p:nvSpPr>
          <p:cNvPr id="12" name="Rounded Rectangle 11"/>
          <p:cNvSpPr/>
          <p:nvPr/>
        </p:nvSpPr>
        <p:spPr>
          <a:xfrm>
            <a:off x="4662000" y="4180000"/>
            <a:ext cx="4024800" cy="7335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2000" y="4240000"/>
            <a:ext cx="3744800" cy="260000"/>
          </a:xfrm>
          <a:prstGeom prst="rect">
            <a:avLst/>
          </a:prstGeom>
          <a:noFill/>
        </p:spPr>
        <p:txBody>
          <a:bodyPr wrap="square" lIns="0" tIns="0" rIns="0" bIns="0" anchor="t">
            <a:spAutoFit/>
          </a:bodyPr>
          <a:lstStyle/>
          <a:p>
            <a:pPr algn="l">
              <a:spcAft>
                <a:spcPts val="0"/>
              </a:spcAft>
            </a:pPr>
            <a:r>
              <a:rPr sz="1300" b="1" i="0">
                <a:solidFill>
                  <a:srgbClr val="1B3A6B"/>
                </a:solidFill>
                <a:latin typeface="Georgia"/>
              </a:rPr>
              <a:t>6.594 s  vs.  0.020 s</a:t>
            </a:r>
          </a:p>
        </p:txBody>
      </p:sp>
      <p:sp>
        <p:nvSpPr>
          <p:cNvPr id="14" name="TextBox 13"/>
          <p:cNvSpPr txBox="1"/>
          <p:nvPr/>
        </p:nvSpPr>
        <p:spPr>
          <a:xfrm>
            <a:off x="4802000" y="4500000"/>
            <a:ext cx="3744800" cy="353500"/>
          </a:xfrm>
          <a:prstGeom prst="rect">
            <a:avLst/>
          </a:prstGeom>
          <a:noFill/>
        </p:spPr>
        <p:txBody>
          <a:bodyPr wrap="square" lIns="0" tIns="0" rIns="0" bIns="0" anchor="t">
            <a:spAutoFit/>
          </a:bodyPr>
          <a:lstStyle/>
          <a:p>
            <a:pPr algn="l">
              <a:lnSpc>
                <a:spcPct val="105000"/>
              </a:lnSpc>
              <a:spcAft>
                <a:spcPts val="0"/>
              </a:spcAft>
            </a:pPr>
            <a:r>
              <a:rPr sz="950" b="0" i="0">
                <a:solidFill>
                  <a:srgbClr val="6B7A8D"/>
                </a:solidFill>
                <a:latin typeface="Calibri"/>
              </a:rPr>
              <a:t>Quantum-inspired annealing (SA) needs ~330× the runtime of exact DP and still converges to a slightly worse SRS — DP remains the strongest classical baseline.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86868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04672"/>
            <a:ext cx="9144000" cy="64008"/>
          </a:xfrm>
          <a:prstGeom prst="rect">
            <a:avLst/>
          </a:prstGeom>
          <a:solidFill>
            <a:srgbClr val="2DC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7800000" cy="868680"/>
          </a:xfrm>
          <a:prstGeom prst="rect">
            <a:avLst/>
          </a:prstGeom>
          <a:noFill/>
        </p:spPr>
        <p:txBody>
          <a:bodyPr wrap="square" lIns="0" tIns="0" rIns="0" bIns="0" anchor="ctr">
            <a:spAutoFit/>
          </a:bodyPr>
          <a:lstStyle/>
          <a:p>
            <a:pPr algn="l">
              <a:spcAft>
                <a:spcPts val="0"/>
              </a:spcAft>
            </a:pPr>
            <a:r>
              <a:rPr sz="2200" b="1" i="0">
                <a:solidFill>
                  <a:srgbClr val="FFFFFF"/>
                </a:solidFill>
                <a:latin typeface="Georgia"/>
              </a:rPr>
              <a:t>Cost Decomposition &amp; Scaling Trend</a:t>
            </a:r>
          </a:p>
        </p:txBody>
      </p:sp>
      <p:sp>
        <p:nvSpPr>
          <p:cNvPr id="5" name="Rounded Rectangle 4"/>
          <p:cNvSpPr/>
          <p:nvPr/>
        </p:nvSpPr>
        <p:spPr>
          <a:xfrm>
            <a:off x="457200" y="1000000"/>
            <a:ext cx="4024800" cy="290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ost_decomposition.png"/>
          <p:cNvPicPr>
            <a:picLocks noChangeAspect="1"/>
          </p:cNvPicPr>
          <p:nvPr/>
        </p:nvPicPr>
        <p:blipFill>
          <a:blip r:embed="rId2"/>
          <a:stretch>
            <a:fillRect/>
          </a:stretch>
        </p:blipFill>
        <p:spPr>
          <a:xfrm>
            <a:off x="517200" y="1385055"/>
            <a:ext cx="3904800" cy="2129890"/>
          </a:xfrm>
          <a:prstGeom prst="rect">
            <a:avLst/>
          </a:prstGeom>
        </p:spPr>
      </p:pic>
      <p:sp>
        <p:nvSpPr>
          <p:cNvPr id="7" name="Rounded Rectangle 6"/>
          <p:cNvSpPr/>
          <p:nvPr/>
        </p:nvSpPr>
        <p:spPr>
          <a:xfrm>
            <a:off x="4662000" y="1000000"/>
            <a:ext cx="4024800" cy="290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aling_runtime.png"/>
          <p:cNvPicPr>
            <a:picLocks noChangeAspect="1"/>
          </p:cNvPicPr>
          <p:nvPr/>
        </p:nvPicPr>
        <p:blipFill>
          <a:blip r:embed="rId3"/>
          <a:stretch>
            <a:fillRect/>
          </a:stretch>
        </p:blipFill>
        <p:spPr>
          <a:xfrm>
            <a:off x="4722000" y="1690733"/>
            <a:ext cx="3904800" cy="1518533"/>
          </a:xfrm>
          <a:prstGeom prst="rect">
            <a:avLst/>
          </a:prstGeom>
        </p:spPr>
      </p:pic>
      <p:sp>
        <p:nvSpPr>
          <p:cNvPr id="9" name="Rounded Rectangle 8"/>
          <p:cNvSpPr/>
          <p:nvPr/>
        </p:nvSpPr>
        <p:spPr>
          <a:xfrm>
            <a:off x="457200" y="4050000"/>
            <a:ext cx="4024800" cy="863500"/>
          </a:xfrm>
          <a:prstGeom prst="roundRect">
            <a:avLst>
              <a:gd name="adj" fmla="val 6000"/>
            </a:avLst>
          </a:prstGeom>
          <a:solidFill>
            <a:srgbClr val="F0FBF8"/>
          </a:solidFill>
          <a:ln w="9525">
            <a:solidFill>
              <a:srgbClr val="BFE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7200" y="4110000"/>
            <a:ext cx="3744800" cy="743500"/>
          </a:xfrm>
          <a:prstGeom prst="rect">
            <a:avLst/>
          </a:prstGeom>
          <a:noFill/>
        </p:spPr>
        <p:txBody>
          <a:bodyPr wrap="square" lIns="0" tIns="0" rIns="0" bIns="0" anchor="t">
            <a:spAutoFit/>
          </a:bodyPr>
          <a:lstStyle/>
          <a:p>
            <a:pPr algn="l">
              <a:lnSpc>
                <a:spcPct val="108000"/>
              </a:lnSpc>
              <a:spcAft>
                <a:spcPts val="0"/>
              </a:spcAft>
            </a:pPr>
            <a:r>
              <a:rPr sz="969" b="0" i="0">
                <a:solidFill>
                  <a:srgbClr val="1A2332"/>
                </a:solidFill>
                <a:latin typeface="Calibri"/>
              </a:rPr>
              <a:t>DP cuts the critical-storage penalty from 0.3115 to 0.2796 </a:t>
            </a:r>
            <a:r>
              <a:rPr sz="969" b="1" i="0">
                <a:solidFill>
                  <a:srgbClr val="0E7C7B"/>
                </a:solidFill>
                <a:latin typeface="Calibri"/>
              </a:rPr>
              <a:t>(net cost −6.8%)</a:t>
            </a:r>
            <a:r>
              <a:rPr sz="969" b="0" i="0">
                <a:solidFill>
                  <a:srgbClr val="1A2332"/>
                </a:solidFill>
                <a:latin typeface="Calibri"/>
              </a:rPr>
              <a:t>, paying only a small deviation (0.0106) and smoothness (0.0003) cost.</a:t>
            </a:r>
          </a:p>
        </p:txBody>
      </p:sp>
      <p:sp>
        <p:nvSpPr>
          <p:cNvPr id="11" name="Rounded Rectangle 10"/>
          <p:cNvSpPr/>
          <p:nvPr/>
        </p:nvSpPr>
        <p:spPr>
          <a:xfrm>
            <a:off x="4662000" y="4050000"/>
            <a:ext cx="4024800" cy="863500"/>
          </a:xfrm>
          <a:prstGeom prst="roundRect">
            <a:avLst>
              <a:gd name="adj" fmla="val 6000"/>
            </a:avLst>
          </a:prstGeom>
          <a:solidFill>
            <a:srgbClr val="F0FBF8"/>
          </a:solidFill>
          <a:ln w="9525">
            <a:solidFill>
              <a:srgbClr val="BFE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02000" y="4110000"/>
            <a:ext cx="3744800" cy="743500"/>
          </a:xfrm>
          <a:prstGeom prst="rect">
            <a:avLst/>
          </a:prstGeom>
          <a:noFill/>
        </p:spPr>
        <p:txBody>
          <a:bodyPr wrap="square" lIns="0" tIns="0" rIns="0" bIns="0" anchor="t">
            <a:spAutoFit/>
          </a:bodyPr>
          <a:lstStyle/>
          <a:p>
            <a:pPr algn="l">
              <a:lnSpc>
                <a:spcPct val="108000"/>
              </a:lnSpc>
              <a:spcAft>
                <a:spcPts val="0"/>
              </a:spcAft>
            </a:pPr>
            <a:r>
              <a:rPr sz="969" b="1" i="0">
                <a:solidFill>
                  <a:srgbClr val="0E7C7B"/>
                </a:solidFill>
                <a:latin typeface="Calibri"/>
              </a:rPr>
              <a:t>New scaling point: </a:t>
            </a:r>
            <a:r>
              <a:rPr sz="969" b="0" i="0">
                <a:solidFill>
                  <a:srgbClr val="1A2332"/>
                </a:solidFill>
                <a:latin typeface="Calibri"/>
              </a:rPr>
              <a:t>T = 52, L = 7  →  7⁵² ≈ 10⁴³ schedules solved exactly in 1.056 s (ΔSRS = +0.075) — runtime stays far below the combinatorial growth.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86868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04672"/>
            <a:ext cx="9144000" cy="64008"/>
          </a:xfrm>
          <a:prstGeom prst="rect">
            <a:avLst/>
          </a:prstGeom>
          <a:solidFill>
            <a:srgbClr val="2DC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7800000" cy="868680"/>
          </a:xfrm>
          <a:prstGeom prst="rect">
            <a:avLst/>
          </a:prstGeom>
          <a:noFill/>
        </p:spPr>
        <p:txBody>
          <a:bodyPr wrap="square" lIns="0" tIns="0" rIns="0" bIns="0" anchor="ctr">
            <a:spAutoFit/>
          </a:bodyPr>
          <a:lstStyle/>
          <a:p>
            <a:pPr algn="l">
              <a:spcAft>
                <a:spcPts val="0"/>
              </a:spcAft>
            </a:pPr>
            <a:r>
              <a:rPr sz="2200" b="1" i="0">
                <a:solidFill>
                  <a:srgbClr val="FFFFFF"/>
                </a:solidFill>
                <a:latin typeface="Georgia"/>
              </a:rPr>
              <a:t>Quantum Track — QUBO / QAOA Formulation</a:t>
            </a:r>
          </a:p>
        </p:txBody>
      </p:sp>
      <p:sp>
        <p:nvSpPr>
          <p:cNvPr id="5" name="Rounded Rectangle 4"/>
          <p:cNvSpPr/>
          <p:nvPr/>
        </p:nvSpPr>
        <p:spPr>
          <a:xfrm>
            <a:off x="457200" y="1000000"/>
            <a:ext cx="4550000" cy="87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7200" y="1070000"/>
            <a:ext cx="4250000" cy="260000"/>
          </a:xfrm>
          <a:prstGeom prst="rect">
            <a:avLst/>
          </a:prstGeom>
          <a:noFill/>
        </p:spPr>
        <p:txBody>
          <a:bodyPr wrap="square" lIns="0" tIns="0" rIns="0" bIns="0" anchor="t">
            <a:spAutoFit/>
          </a:bodyPr>
          <a:lstStyle/>
          <a:p>
            <a:pPr algn="l">
              <a:spcAft>
                <a:spcPts val="0"/>
              </a:spcAft>
            </a:pPr>
            <a:r>
              <a:rPr sz="1150" b="1" i="0">
                <a:solidFill>
                  <a:srgbClr val="1B3A6B"/>
                </a:solidFill>
                <a:latin typeface="Georgia"/>
              </a:rPr>
              <a:t>Encoding</a:t>
            </a:r>
          </a:p>
        </p:txBody>
      </p:sp>
      <p:sp>
        <p:nvSpPr>
          <p:cNvPr id="7" name="TextBox 6"/>
          <p:cNvSpPr txBox="1"/>
          <p:nvPr/>
        </p:nvSpPr>
        <p:spPr>
          <a:xfrm>
            <a:off x="607200" y="1330000"/>
            <a:ext cx="4250000" cy="500000"/>
          </a:xfrm>
          <a:prstGeom prst="rect">
            <a:avLst/>
          </a:prstGeom>
          <a:noFill/>
        </p:spPr>
        <p:txBody>
          <a:bodyPr wrap="square" lIns="0" tIns="0" rIns="0" bIns="0" anchor="t">
            <a:spAutoFit/>
          </a:bodyPr>
          <a:lstStyle/>
          <a:p>
            <a:pPr algn="l">
              <a:lnSpc>
                <a:spcPct val="105000"/>
              </a:lnSpc>
              <a:spcAft>
                <a:spcPts val="0"/>
              </a:spcAft>
            </a:pPr>
            <a:r>
              <a:rPr sz="930" b="0" i="0">
                <a:solidFill>
                  <a:srgbClr val="1A2332"/>
                </a:solidFill>
                <a:latin typeface="Calibri"/>
              </a:rPr>
              <a:t>One-hot:  x(t,ℓ) ∈ {0,1};   u(t) = Δu · Σℓ qℓ·x(t,ℓ);  one-hot rule  Σℓ x(t,ℓ) = 1  per week.</a:t>
            </a:r>
          </a:p>
        </p:txBody>
      </p:sp>
      <p:sp>
        <p:nvSpPr>
          <p:cNvPr id="8" name="Rounded Rectangle 7"/>
          <p:cNvSpPr/>
          <p:nvPr/>
        </p:nvSpPr>
        <p:spPr>
          <a:xfrm>
            <a:off x="457200" y="1960000"/>
            <a:ext cx="4550000" cy="87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7200" y="2030000"/>
            <a:ext cx="4250000" cy="260000"/>
          </a:xfrm>
          <a:prstGeom prst="rect">
            <a:avLst/>
          </a:prstGeom>
          <a:noFill/>
        </p:spPr>
        <p:txBody>
          <a:bodyPr wrap="square" lIns="0" tIns="0" rIns="0" bIns="0" anchor="t">
            <a:spAutoFit/>
          </a:bodyPr>
          <a:lstStyle/>
          <a:p>
            <a:pPr algn="l">
              <a:spcAft>
                <a:spcPts val="0"/>
              </a:spcAft>
            </a:pPr>
            <a:r>
              <a:rPr sz="1150" b="1" i="0">
                <a:solidFill>
                  <a:srgbClr val="1B3A6B"/>
                </a:solidFill>
                <a:latin typeface="Georgia"/>
              </a:rPr>
              <a:t>QUBO terms</a:t>
            </a:r>
          </a:p>
        </p:txBody>
      </p:sp>
      <p:sp>
        <p:nvSpPr>
          <p:cNvPr id="10" name="TextBox 9"/>
          <p:cNvSpPr txBox="1"/>
          <p:nvPr/>
        </p:nvSpPr>
        <p:spPr>
          <a:xfrm>
            <a:off x="607200" y="2290000"/>
            <a:ext cx="4250000" cy="500000"/>
          </a:xfrm>
          <a:prstGeom prst="rect">
            <a:avLst/>
          </a:prstGeom>
          <a:noFill/>
        </p:spPr>
        <p:txBody>
          <a:bodyPr wrap="square" lIns="0" tIns="0" rIns="0" bIns="0" anchor="t">
            <a:spAutoFit/>
          </a:bodyPr>
          <a:lstStyle/>
          <a:p>
            <a:pPr algn="l">
              <a:lnSpc>
                <a:spcPct val="105000"/>
              </a:lnSpc>
              <a:spcAft>
                <a:spcPts val="0"/>
              </a:spcAft>
            </a:pPr>
            <a:r>
              <a:rPr sz="930" b="0" i="0">
                <a:solidFill>
                  <a:srgbClr val="1A2332"/>
                </a:solidFill>
                <a:latin typeface="Calibri"/>
              </a:rPr>
              <a:t>C_dev, C_smooth expand exactly (quadratic in bits); C_crit uses a soft penalty for the MVP; storage bounds never bind → dropped (0 extra qubits).</a:t>
            </a:r>
          </a:p>
        </p:txBody>
      </p:sp>
      <p:sp>
        <p:nvSpPr>
          <p:cNvPr id="11" name="Rounded Rectangle 10"/>
          <p:cNvSpPr/>
          <p:nvPr/>
        </p:nvSpPr>
        <p:spPr>
          <a:xfrm>
            <a:off x="457200" y="2920000"/>
            <a:ext cx="4550000" cy="87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7200" y="2990000"/>
            <a:ext cx="4250000" cy="260000"/>
          </a:xfrm>
          <a:prstGeom prst="rect">
            <a:avLst/>
          </a:prstGeom>
          <a:noFill/>
        </p:spPr>
        <p:txBody>
          <a:bodyPr wrap="square" lIns="0" tIns="0" rIns="0" bIns="0" anchor="t">
            <a:spAutoFit/>
          </a:bodyPr>
          <a:lstStyle/>
          <a:p>
            <a:pPr algn="l">
              <a:spcAft>
                <a:spcPts val="0"/>
              </a:spcAft>
            </a:pPr>
            <a:r>
              <a:rPr sz="1150" b="1" i="0">
                <a:solidFill>
                  <a:srgbClr val="1B3A6B"/>
                </a:solidFill>
                <a:latin typeface="Georgia"/>
              </a:rPr>
              <a:t>Balance constraint</a:t>
            </a:r>
          </a:p>
        </p:txBody>
      </p:sp>
      <p:sp>
        <p:nvSpPr>
          <p:cNvPr id="13" name="TextBox 12"/>
          <p:cNvSpPr txBox="1"/>
          <p:nvPr/>
        </p:nvSpPr>
        <p:spPr>
          <a:xfrm>
            <a:off x="607200" y="3250000"/>
            <a:ext cx="4250000" cy="500000"/>
          </a:xfrm>
          <a:prstGeom prst="rect">
            <a:avLst/>
          </a:prstGeom>
          <a:noFill/>
        </p:spPr>
        <p:txBody>
          <a:bodyPr wrap="square" lIns="0" tIns="0" rIns="0" bIns="0" anchor="t">
            <a:spAutoFit/>
          </a:bodyPr>
          <a:lstStyle/>
          <a:p>
            <a:pPr algn="l">
              <a:lnSpc>
                <a:spcPct val="105000"/>
              </a:lnSpc>
              <a:spcAft>
                <a:spcPts val="0"/>
              </a:spcAft>
            </a:pPr>
            <a:r>
              <a:rPr sz="930" b="0" i="0">
                <a:solidFill>
                  <a:srgbClr val="1A2332"/>
                </a:solidFill>
                <a:latin typeface="Calibri"/>
              </a:rPr>
              <a:t>1-slack exact encoding, only ≈log₂(0.8T) extra qubits — correct and nearly free vs. a biased soft penalty.</a:t>
            </a:r>
          </a:p>
        </p:txBody>
      </p:sp>
      <p:sp>
        <p:nvSpPr>
          <p:cNvPr id="14" name="Rounded Rectangle 13"/>
          <p:cNvSpPr/>
          <p:nvPr/>
        </p:nvSpPr>
        <p:spPr>
          <a:xfrm>
            <a:off x="457200" y="3880000"/>
            <a:ext cx="4550000" cy="87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7200" y="3950000"/>
            <a:ext cx="4250000" cy="260000"/>
          </a:xfrm>
          <a:prstGeom prst="rect">
            <a:avLst/>
          </a:prstGeom>
          <a:noFill/>
        </p:spPr>
        <p:txBody>
          <a:bodyPr wrap="square" lIns="0" tIns="0" rIns="0" bIns="0" anchor="t">
            <a:spAutoFit/>
          </a:bodyPr>
          <a:lstStyle/>
          <a:p>
            <a:pPr algn="l">
              <a:spcAft>
                <a:spcPts val="0"/>
              </a:spcAft>
            </a:pPr>
            <a:r>
              <a:rPr sz="1150" b="1" i="0">
                <a:solidFill>
                  <a:srgbClr val="1B3A6B"/>
                </a:solidFill>
                <a:latin typeface="Georgia"/>
              </a:rPr>
              <a:t>Pluggable encodings</a:t>
            </a:r>
          </a:p>
        </p:txBody>
      </p:sp>
      <p:sp>
        <p:nvSpPr>
          <p:cNvPr id="16" name="TextBox 15"/>
          <p:cNvSpPr txBox="1"/>
          <p:nvPr/>
        </p:nvSpPr>
        <p:spPr>
          <a:xfrm>
            <a:off x="607200" y="4210000"/>
            <a:ext cx="4250000" cy="500000"/>
          </a:xfrm>
          <a:prstGeom prst="rect">
            <a:avLst/>
          </a:prstGeom>
          <a:noFill/>
        </p:spPr>
        <p:txBody>
          <a:bodyPr wrap="square" lIns="0" tIns="0" rIns="0" bIns="0" anchor="t">
            <a:spAutoFit/>
          </a:bodyPr>
          <a:lstStyle/>
          <a:p>
            <a:pPr algn="l">
              <a:lnSpc>
                <a:spcPct val="105000"/>
              </a:lnSpc>
              <a:spcAft>
                <a:spcPts val="0"/>
              </a:spcAft>
            </a:pPr>
            <a:r>
              <a:rPr sz="930" b="0" i="0">
                <a:solidFill>
                  <a:srgbClr val="1A2332"/>
                </a:solidFill>
                <a:latin typeface="Calibri"/>
              </a:rPr>
              <a:t>One-hot / binary(log) / domain-wall are interchangeable — binary cuts T12/L3 from 36 → 24 qubits, fitting a 30-qubit statevector simulator.</a:t>
            </a:r>
          </a:p>
        </p:txBody>
      </p:sp>
      <p:sp>
        <p:nvSpPr>
          <p:cNvPr id="17" name="Rounded Rectangle 16"/>
          <p:cNvSpPr/>
          <p:nvPr/>
        </p:nvSpPr>
        <p:spPr>
          <a:xfrm>
            <a:off x="5207200" y="1000000"/>
            <a:ext cx="3479600" cy="265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qubit_budget.png"/>
          <p:cNvPicPr>
            <a:picLocks noChangeAspect="1"/>
          </p:cNvPicPr>
          <p:nvPr/>
        </p:nvPicPr>
        <p:blipFill>
          <a:blip r:embed="rId2"/>
          <a:stretch>
            <a:fillRect/>
          </a:stretch>
        </p:blipFill>
        <p:spPr>
          <a:xfrm>
            <a:off x="5267200" y="1397349"/>
            <a:ext cx="3359600" cy="1855301"/>
          </a:xfrm>
          <a:prstGeom prst="rect">
            <a:avLst/>
          </a:prstGeom>
        </p:spPr>
      </p:pic>
      <p:sp>
        <p:nvSpPr>
          <p:cNvPr id="19" name="Rounded Rectangle 18"/>
          <p:cNvSpPr/>
          <p:nvPr/>
        </p:nvSpPr>
        <p:spPr>
          <a:xfrm>
            <a:off x="5207200" y="3800000"/>
            <a:ext cx="3479600" cy="1113500"/>
          </a:xfrm>
          <a:prstGeom prst="roundRect">
            <a:avLst>
              <a:gd name="adj" fmla="val 6000"/>
            </a:avLst>
          </a:prstGeom>
          <a:solidFill>
            <a:srgbClr val="FFF4F4"/>
          </a:solidFill>
          <a:ln w="9525">
            <a:solidFill>
              <a:srgbClr val="F0C7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57200" y="3860000"/>
            <a:ext cx="3179600" cy="1013500"/>
          </a:xfrm>
          <a:prstGeom prst="rect">
            <a:avLst/>
          </a:prstGeom>
          <a:noFill/>
        </p:spPr>
        <p:txBody>
          <a:bodyPr wrap="square" lIns="0" tIns="0" rIns="0" bIns="0" anchor="t">
            <a:spAutoFit/>
          </a:bodyPr>
          <a:lstStyle/>
          <a:p>
            <a:pPr algn="l">
              <a:lnSpc>
                <a:spcPct val="105000"/>
              </a:lnSpc>
              <a:spcAft>
                <a:spcPts val="0"/>
              </a:spcAft>
            </a:pPr>
            <a:r>
              <a:rPr sz="950" b="1" i="0">
                <a:solidFill>
                  <a:srgbClr val="C0392B"/>
                </a:solidFill>
                <a:latin typeface="Calibri"/>
              </a:rPr>
              <a:t>Key finding: </a:t>
            </a:r>
            <a:r>
              <a:rPr sz="930" b="0" i="0">
                <a:solidFill>
                  <a:srgbClr val="1A2332"/>
                </a:solidFill>
                <a:latin typeface="Calibri"/>
              </a:rPr>
              <a:t>official Smin = 822.18 Mm³ (not the team’s earlier 162.2 Mm³ preliminary) puts the 6-year drought-regime reservoir below threshold all year — C_crit ≠ 0, making optimization genuinely non-trivial, especially at L ≥ 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86868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04672"/>
            <a:ext cx="9144000" cy="64008"/>
          </a:xfrm>
          <a:prstGeom prst="rect">
            <a:avLst/>
          </a:prstGeom>
          <a:solidFill>
            <a:srgbClr val="2DC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0"/>
            <a:ext cx="7800000" cy="868680"/>
          </a:xfrm>
          <a:prstGeom prst="rect">
            <a:avLst/>
          </a:prstGeom>
          <a:noFill/>
        </p:spPr>
        <p:txBody>
          <a:bodyPr wrap="square" lIns="0" tIns="0" rIns="0" bIns="0" anchor="ctr">
            <a:spAutoFit/>
          </a:bodyPr>
          <a:lstStyle/>
          <a:p>
            <a:pPr algn="l">
              <a:spcAft>
                <a:spcPts val="0"/>
              </a:spcAft>
            </a:pPr>
            <a:r>
              <a:rPr sz="2200" b="1" i="0">
                <a:solidFill>
                  <a:srgbClr val="FFFFFF"/>
                </a:solidFill>
                <a:latin typeface="Georgia"/>
              </a:rPr>
              <a:t>Quantum Track — QAOA Results &amp; Roadmap</a:t>
            </a:r>
          </a:p>
        </p:txBody>
      </p:sp>
      <p:graphicFrame>
        <p:nvGraphicFramePr>
          <p:cNvPr id="5" name="Table 4"/>
          <p:cNvGraphicFramePr>
            <a:graphicFrameLocks noGrp="1"/>
          </p:cNvGraphicFramePr>
          <p:nvPr/>
        </p:nvGraphicFramePr>
        <p:xfrm>
          <a:off x="457200" y="1000000"/>
          <a:ext cx="4550000" cy="2267872"/>
        </p:xfrm>
        <a:graphic>
          <a:graphicData uri="http://schemas.openxmlformats.org/drawingml/2006/table">
            <a:tbl>
              <a:tblPr/>
              <a:tblGrid>
                <a:gridCol w="135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1100000">
                  <a:extLst>
                    <a:ext uri="{9D8B030D-6E8A-4147-A177-3AD203B41FA5}">
                      <a16:colId xmlns:a16="http://schemas.microsoft.com/office/drawing/2014/main" val="20003"/>
                    </a:ext>
                  </a:extLst>
                </a:gridCol>
              </a:tblGrid>
              <a:tr h="512500">
                <a:tc>
                  <a:txBody>
                    <a:bodyPr/>
                    <a:lstStyle/>
                    <a:p>
                      <a:pPr algn="l"/>
                      <a:r>
                        <a:rPr sz="1000" b="1">
                          <a:solidFill>
                            <a:srgbClr val="FFFFFF"/>
                          </a:solidFill>
                          <a:latin typeface="Calibri"/>
                        </a:rPr>
                        <a:t>Instance</a:t>
                      </a:r>
                    </a:p>
                  </a:txBody>
                  <a:tcPr marL="45000" marR="45000" marT="20000" marB="20000" anchor="ctr">
                    <a:solidFill>
                      <a:srgbClr val="1B3A6B"/>
                    </a:solidFill>
                  </a:tcPr>
                </a:tc>
                <a:tc>
                  <a:txBody>
                    <a:bodyPr/>
                    <a:lstStyle/>
                    <a:p>
                      <a:pPr algn="ctr"/>
                      <a:r>
                        <a:rPr sz="1000" b="1">
                          <a:solidFill>
                            <a:srgbClr val="FFFFFF"/>
                          </a:solidFill>
                          <a:latin typeface="Calibri"/>
                        </a:rPr>
                        <a:t>Encoding</a:t>
                      </a:r>
                    </a:p>
                  </a:txBody>
                  <a:tcPr marL="45000" marR="45000" marT="20000" marB="20000" anchor="ctr">
                    <a:solidFill>
                      <a:srgbClr val="1B3A6B"/>
                    </a:solidFill>
                  </a:tcPr>
                </a:tc>
                <a:tc>
                  <a:txBody>
                    <a:bodyPr/>
                    <a:lstStyle/>
                    <a:p>
                      <a:pPr algn="ctr"/>
                      <a:r>
                        <a:rPr sz="1000" b="1">
                          <a:solidFill>
                            <a:srgbClr val="FFFFFF"/>
                          </a:solidFill>
                          <a:latin typeface="Calibri"/>
                        </a:rPr>
                        <a:t>Qubits</a:t>
                      </a:r>
                    </a:p>
                  </a:txBody>
                  <a:tcPr marL="45000" marR="45000" marT="20000" marB="20000" anchor="ctr">
                    <a:solidFill>
                      <a:srgbClr val="1B3A6B"/>
                    </a:solidFill>
                  </a:tcPr>
                </a:tc>
                <a:tc>
                  <a:txBody>
                    <a:bodyPr/>
                    <a:lstStyle/>
                    <a:p>
                      <a:pPr algn="ctr"/>
                      <a:r>
                        <a:rPr sz="1000" b="1">
                          <a:solidFill>
                            <a:srgbClr val="FFFFFF"/>
                          </a:solidFill>
                          <a:latin typeface="Calibri"/>
                        </a:rPr>
                        <a:t>Status</a:t>
                      </a:r>
                    </a:p>
                  </a:txBody>
                  <a:tcPr marL="45000" marR="45000" marT="20000" marB="20000" anchor="ctr">
                    <a:solidFill>
                      <a:srgbClr val="1B3A6B"/>
                    </a:solidFill>
                  </a:tcPr>
                </a:tc>
                <a:extLst>
                  <a:ext uri="{0D108BD9-81ED-4DB2-BD59-A6C34878D82A}">
                    <a16:rowId xmlns:a16="http://schemas.microsoft.com/office/drawing/2014/main" val="10000"/>
                  </a:ext>
                </a:extLst>
              </a:tr>
              <a:tr h="512500">
                <a:tc>
                  <a:txBody>
                    <a:bodyPr/>
                    <a:lstStyle/>
                    <a:p>
                      <a:pPr algn="l"/>
                      <a:r>
                        <a:rPr sz="930" b="0">
                          <a:solidFill>
                            <a:srgbClr val="1A2332"/>
                          </a:solidFill>
                          <a:latin typeface="Calibri"/>
                        </a:rPr>
                        <a:t>Debug  T5/L3</a:t>
                      </a:r>
                    </a:p>
                  </a:txBody>
                  <a:tcPr marL="45000" marR="45000" marT="20000" marB="20000" anchor="ctr">
                    <a:solidFill>
                      <a:srgbClr val="FFFFFF"/>
                    </a:solidFill>
                  </a:tcPr>
                </a:tc>
                <a:tc>
                  <a:txBody>
                    <a:bodyPr/>
                    <a:lstStyle/>
                    <a:p>
                      <a:pPr algn="ctr"/>
                      <a:r>
                        <a:rPr sz="930" b="0">
                          <a:solidFill>
                            <a:srgbClr val="1A2332"/>
                          </a:solidFill>
                          <a:latin typeface="Calibri"/>
                        </a:rPr>
                        <a:t>one-hot</a:t>
                      </a:r>
                    </a:p>
                  </a:txBody>
                  <a:tcPr marL="45000" marR="45000" marT="20000" marB="20000" anchor="ctr">
                    <a:solidFill>
                      <a:srgbClr val="FFFFFF"/>
                    </a:solidFill>
                  </a:tcPr>
                </a:tc>
                <a:tc>
                  <a:txBody>
                    <a:bodyPr/>
                    <a:lstStyle/>
                    <a:p>
                      <a:pPr algn="ctr"/>
                      <a:r>
                        <a:rPr sz="930" b="0">
                          <a:solidFill>
                            <a:srgbClr val="1A2332"/>
                          </a:solidFill>
                          <a:latin typeface="Calibri"/>
                        </a:rPr>
                        <a:t>17</a:t>
                      </a:r>
                    </a:p>
                  </a:txBody>
                  <a:tcPr marL="45000" marR="45000" marT="20000" marB="20000" anchor="ctr">
                    <a:solidFill>
                      <a:srgbClr val="FFFFFF"/>
                    </a:solidFill>
                  </a:tcPr>
                </a:tc>
                <a:tc>
                  <a:txBody>
                    <a:bodyPr/>
                    <a:lstStyle/>
                    <a:p>
                      <a:pPr algn="ctr"/>
                      <a:r>
                        <a:rPr sz="930" b="0">
                          <a:solidFill>
                            <a:srgbClr val="1A2332"/>
                          </a:solidFill>
                          <a:latin typeface="Calibri"/>
                        </a:rPr>
                        <a:t>AR = 1.000</a:t>
                      </a:r>
                    </a:p>
                    <a:p>
                      <a:r>
                        <a:t>exact ✓</a:t>
                      </a:r>
                    </a:p>
                  </a:txBody>
                  <a:tcPr marL="45000" marR="45000" marT="20000" marB="20000" anchor="ctr">
                    <a:solidFill>
                      <a:srgbClr val="FFFFFF"/>
                    </a:solidFill>
                  </a:tcPr>
                </a:tc>
                <a:extLst>
                  <a:ext uri="{0D108BD9-81ED-4DB2-BD59-A6C34878D82A}">
                    <a16:rowId xmlns:a16="http://schemas.microsoft.com/office/drawing/2014/main" val="10001"/>
                  </a:ext>
                </a:extLst>
              </a:tr>
              <a:tr h="512500">
                <a:tc>
                  <a:txBody>
                    <a:bodyPr/>
                    <a:lstStyle/>
                    <a:p>
                      <a:pPr algn="l"/>
                      <a:r>
                        <a:rPr sz="930" b="0">
                          <a:solidFill>
                            <a:srgbClr val="1A2332"/>
                          </a:solidFill>
                          <a:latin typeface="Calibri"/>
                        </a:rPr>
                        <a:t>Small  T12/L3</a:t>
                      </a:r>
                    </a:p>
                  </a:txBody>
                  <a:tcPr marL="45000" marR="45000" marT="20000" marB="20000" anchor="ctr">
                    <a:solidFill>
                      <a:srgbClr val="FFFFFF"/>
                    </a:solidFill>
                  </a:tcPr>
                </a:tc>
                <a:tc>
                  <a:txBody>
                    <a:bodyPr/>
                    <a:lstStyle/>
                    <a:p>
                      <a:pPr algn="ctr"/>
                      <a:r>
                        <a:rPr sz="930" b="0">
                          <a:solidFill>
                            <a:srgbClr val="1A2332"/>
                          </a:solidFill>
                          <a:latin typeface="Calibri"/>
                        </a:rPr>
                        <a:t>binary</a:t>
                      </a:r>
                    </a:p>
                  </a:txBody>
                  <a:tcPr marL="45000" marR="45000" marT="20000" marB="20000" anchor="ctr">
                    <a:solidFill>
                      <a:srgbClr val="FFFFFF"/>
                    </a:solidFill>
                  </a:tcPr>
                </a:tc>
                <a:tc>
                  <a:txBody>
                    <a:bodyPr/>
                    <a:lstStyle/>
                    <a:p>
                      <a:pPr algn="ctr"/>
                      <a:r>
                        <a:rPr sz="930" b="0">
                          <a:solidFill>
                            <a:srgbClr val="1A2332"/>
                          </a:solidFill>
                          <a:latin typeface="Calibri"/>
                        </a:rPr>
                        <a:t>24</a:t>
                      </a:r>
                    </a:p>
                  </a:txBody>
                  <a:tcPr marL="45000" marR="45000" marT="20000" marB="20000" anchor="ctr">
                    <a:solidFill>
                      <a:srgbClr val="FFFFFF"/>
                    </a:solidFill>
                  </a:tcPr>
                </a:tc>
                <a:tc>
                  <a:txBody>
                    <a:bodyPr/>
                    <a:lstStyle/>
                    <a:p>
                      <a:pPr algn="ctr"/>
                      <a:r>
                        <a:rPr sz="930" b="0">
                          <a:solidFill>
                            <a:srgbClr val="1A2332"/>
                          </a:solidFill>
                          <a:latin typeface="Calibri"/>
                        </a:rPr>
                        <a:t>AR = 1.31</a:t>
                      </a:r>
                    </a:p>
                    <a:p>
                      <a:r>
                        <a:t>feasible ✓</a:t>
                      </a:r>
                    </a:p>
                  </a:txBody>
                  <a:tcPr marL="45000" marR="45000" marT="20000" marB="20000" anchor="ctr">
                    <a:solidFill>
                      <a:srgbClr val="FFFFFF"/>
                    </a:solidFill>
                  </a:tcPr>
                </a:tc>
                <a:extLst>
                  <a:ext uri="{0D108BD9-81ED-4DB2-BD59-A6C34878D82A}">
                    <a16:rowId xmlns:a16="http://schemas.microsoft.com/office/drawing/2014/main" val="10002"/>
                  </a:ext>
                </a:extLst>
              </a:tr>
              <a:tr h="512500">
                <a:tc>
                  <a:txBody>
                    <a:bodyPr/>
                    <a:lstStyle/>
                    <a:p>
                      <a:pPr algn="l"/>
                      <a:r>
                        <a:rPr sz="930" b="0">
                          <a:solidFill>
                            <a:srgbClr val="1A2332"/>
                          </a:solidFill>
                          <a:latin typeface="Calibri"/>
                        </a:rPr>
                        <a:t>Medium  T26/L5</a:t>
                      </a:r>
                    </a:p>
                    <a:p>
                      <a:r>
                        <a:t>(chunked, 5-wk blk.)</a:t>
                      </a:r>
                    </a:p>
                  </a:txBody>
                  <a:tcPr marL="45000" marR="45000" marT="20000" marB="20000" anchor="ctr">
                    <a:solidFill>
                      <a:srgbClr val="FFFFFF"/>
                    </a:solidFill>
                  </a:tcPr>
                </a:tc>
                <a:tc>
                  <a:txBody>
                    <a:bodyPr/>
                    <a:lstStyle/>
                    <a:p>
                      <a:pPr algn="ctr"/>
                      <a:r>
                        <a:rPr sz="930" b="0">
                          <a:solidFill>
                            <a:srgbClr val="1A2332"/>
                          </a:solidFill>
                          <a:latin typeface="Calibri"/>
                        </a:rPr>
                        <a:t>domain-wall</a:t>
                      </a:r>
                    </a:p>
                  </a:txBody>
                  <a:tcPr marL="45000" marR="45000" marT="20000" marB="20000" anchor="ctr">
                    <a:solidFill>
                      <a:srgbClr val="FFFFFF"/>
                    </a:solidFill>
                  </a:tcPr>
                </a:tc>
                <a:tc>
                  <a:txBody>
                    <a:bodyPr/>
                    <a:lstStyle/>
                    <a:p>
                      <a:pPr algn="ctr"/>
                      <a:r>
                        <a:rPr sz="930" b="0">
                          <a:solidFill>
                            <a:srgbClr val="1A2332"/>
                          </a:solidFill>
                          <a:latin typeface="Calibri"/>
                        </a:rPr>
                        <a:t>25/blk</a:t>
                      </a:r>
                    </a:p>
                  </a:txBody>
                  <a:tcPr marL="45000" marR="45000" marT="20000" marB="20000" anchor="ctr">
                    <a:solidFill>
                      <a:srgbClr val="FFFFFF"/>
                    </a:solidFill>
                  </a:tcPr>
                </a:tc>
                <a:tc>
                  <a:txBody>
                    <a:bodyPr/>
                    <a:lstStyle/>
                    <a:p>
                      <a:pPr algn="ctr"/>
                      <a:r>
                        <a:rPr sz="930" b="0">
                          <a:solidFill>
                            <a:srgbClr val="1A2332"/>
                          </a:solidFill>
                          <a:latin typeface="Calibri"/>
                        </a:rPr>
                        <a:t>SRS −.3563</a:t>
                      </a:r>
                    </a:p>
                    <a:p>
                      <a:r>
                        <a:rPr b="1">
                          <a:solidFill>
                            <a:srgbClr val="C0392B"/>
                          </a:solidFill>
                        </a:rPr>
                        <a:t>4/6 feasible ✗</a:t>
                      </a:r>
                    </a:p>
                  </a:txBody>
                  <a:tcPr marL="45000" marR="45000" marT="20000" marB="20000"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457200" y="3200000"/>
            <a:ext cx="4550000" cy="17135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7200" y="3270000"/>
            <a:ext cx="4250000" cy="1593500"/>
          </a:xfrm>
          <a:prstGeom prst="rect">
            <a:avLst/>
          </a:prstGeom>
          <a:noFill/>
        </p:spPr>
        <p:txBody>
          <a:bodyPr wrap="square" lIns="0" tIns="0" rIns="0" bIns="0" anchor="t">
            <a:spAutoFit/>
          </a:bodyPr>
          <a:lstStyle/>
          <a:p>
            <a:pPr algn="l">
              <a:lnSpc>
                <a:spcPct val="112000"/>
              </a:lnSpc>
              <a:spcAft>
                <a:spcPts val="300"/>
              </a:spcAft>
            </a:pPr>
            <a:r>
              <a:rPr sz="960" b="1" i="0">
                <a:solidFill>
                  <a:srgbClr val="1B3A6B"/>
                </a:solidFill>
                <a:latin typeface="Calibri"/>
              </a:rPr>
              <a:t>Gap vs. full DP (0.066 total):  </a:t>
            </a:r>
          </a:p>
          <a:p>
            <a:pPr algn="l">
              <a:lnSpc>
                <a:spcPct val="112000"/>
              </a:lnSpc>
              <a:spcAft>
                <a:spcPts val="300"/>
              </a:spcAft>
            </a:pPr>
            <a:r>
              <a:rPr sz="930" b="0" i="0">
                <a:solidFill>
                  <a:srgbClr val="1A2332"/>
                </a:solidFill>
                <a:latin typeface="Calibri"/>
              </a:rPr>
              <a:t>• 0.021 from temporal chunking (blocks can’t redistribute across boundaries)</a:t>
            </a:r>
          </a:p>
          <a:p>
            <a:pPr algn="l">
              <a:lnSpc>
                <a:spcPct val="112000"/>
              </a:lnSpc>
              <a:spcAft>
                <a:spcPts val="300"/>
              </a:spcAft>
            </a:pPr>
            <a:r>
              <a:rPr sz="930" b="0" i="0">
                <a:solidFill>
                  <a:srgbClr val="1A2332"/>
                </a:solidFill>
                <a:latin typeface="Calibri"/>
              </a:rPr>
              <a:t>• 0.045 from QAOA itself (p = 1 depth, soft per-block balance)</a:t>
            </a:r>
          </a:p>
          <a:p>
            <a:pPr algn="l">
              <a:lnSpc>
                <a:spcPct val="112000"/>
              </a:lnSpc>
              <a:spcAft>
                <a:spcPts val="300"/>
              </a:spcAft>
            </a:pPr>
            <a:r>
              <a:rPr sz="960" b="1" i="0">
                <a:solidFill>
                  <a:srgbClr val="1B3A6B"/>
                </a:solidFill>
                <a:latin typeface="Calibri"/>
              </a:rPr>
              <a:t>IBM Qiskit Runtime plan: </a:t>
            </a:r>
          </a:p>
          <a:p>
            <a:pPr algn="l">
              <a:lnSpc>
                <a:spcPct val="112000"/>
              </a:lnSpc>
              <a:spcAft>
                <a:spcPts val="300"/>
              </a:spcAft>
            </a:pPr>
            <a:r>
              <a:rPr sz="930" b="0" i="0">
                <a:solidFill>
                  <a:srgbClr val="1A2332"/>
                </a:solidFill>
                <a:latin typeface="Calibri"/>
              </a:rPr>
              <a:t>domain-wall, 4 qubits/week, 7-week blocks (28q ≤ 30q budget), T=26 split 7+7+7+5.</a:t>
            </a:r>
          </a:p>
        </p:txBody>
      </p:sp>
      <p:sp>
        <p:nvSpPr>
          <p:cNvPr id="8" name="Rounded Rectangle 7"/>
          <p:cNvSpPr/>
          <p:nvPr/>
        </p:nvSpPr>
        <p:spPr>
          <a:xfrm>
            <a:off x="5207200" y="1000000"/>
            <a:ext cx="3479600" cy="2900000"/>
          </a:xfrm>
          <a:prstGeom prst="roundRect">
            <a:avLst>
              <a:gd name="adj" fmla="val 6000"/>
            </a:avLst>
          </a:prstGeom>
          <a:solidFill>
            <a:srgbClr val="FFFFFF"/>
          </a:solidFill>
          <a:ln w="9525">
            <a:solidFill>
              <a:srgbClr val="D0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quantum_srs_comparison.png"/>
          <p:cNvPicPr>
            <a:picLocks noChangeAspect="1"/>
          </p:cNvPicPr>
          <p:nvPr/>
        </p:nvPicPr>
        <p:blipFill>
          <a:blip r:embed="rId2"/>
          <a:stretch>
            <a:fillRect/>
          </a:stretch>
        </p:blipFill>
        <p:spPr>
          <a:xfrm>
            <a:off x="5267200" y="1522349"/>
            <a:ext cx="3359600" cy="1855301"/>
          </a:xfrm>
          <a:prstGeom prst="rect">
            <a:avLst/>
          </a:prstGeom>
        </p:spPr>
      </p:pic>
      <p:sp>
        <p:nvSpPr>
          <p:cNvPr id="10" name="Rounded Rectangle 9"/>
          <p:cNvSpPr/>
          <p:nvPr/>
        </p:nvSpPr>
        <p:spPr>
          <a:xfrm>
            <a:off x="5207200" y="4050000"/>
            <a:ext cx="3479600" cy="863500"/>
          </a:xfrm>
          <a:prstGeom prst="roundRect">
            <a:avLst>
              <a:gd name="adj" fmla="val 6000"/>
            </a:avLst>
          </a:prstGeom>
          <a:solidFill>
            <a:srgbClr val="F0FBF8"/>
          </a:solidFill>
          <a:ln w="9525">
            <a:solidFill>
              <a:srgbClr val="BFE9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47200" y="4105000"/>
            <a:ext cx="3199600" cy="763500"/>
          </a:xfrm>
          <a:prstGeom prst="rect">
            <a:avLst/>
          </a:prstGeom>
          <a:noFill/>
        </p:spPr>
        <p:txBody>
          <a:bodyPr wrap="square" lIns="0" tIns="0" rIns="0" bIns="0" anchor="t">
            <a:spAutoFit/>
          </a:bodyPr>
          <a:lstStyle/>
          <a:p>
            <a:pPr algn="l">
              <a:lnSpc>
                <a:spcPct val="105000"/>
              </a:lnSpc>
              <a:spcAft>
                <a:spcPts val="0"/>
              </a:spcAft>
            </a:pPr>
            <a:r>
              <a:rPr sz="940" b="1" i="0">
                <a:solidFill>
                  <a:srgbClr val="0E7C7B"/>
                </a:solidFill>
                <a:latin typeface="Calibri"/>
              </a:rPr>
              <a:t>Honest conclusion: </a:t>
            </a:r>
            <a:r>
              <a:rPr sz="919" b="0" i="0">
                <a:solidFill>
                  <a:srgbClr val="1A2332"/>
                </a:solidFill>
                <a:latin typeface="Calibri"/>
              </a:rPr>
              <a:t>no quantum advantage yet on this benchmark. Next: XY-mixer (drop one-hot penalty), deeper QAOA (p&gt;1, INTERP init), hard per-block balance.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DC9A4"/>
          </a:solidFill>
          <a:ln w="12700">
            <a:solidFill>
              <a:srgbClr val="2DC9A4"/>
            </a:solidFill>
            <a:prstDash val="solid"/>
          </a:ln>
        </p:spPr>
        <p:txBody>
          <a:bodyPr/>
          <a:lstStyle/>
          <a:p>
            <a:endParaRPr lang="es-MX"/>
          </a:p>
        </p:txBody>
      </p:sp>
      <p:sp>
        <p:nvSpPr>
          <p:cNvPr id="3" name="Shape 1"/>
          <p:cNvSpPr/>
          <p:nvPr/>
        </p:nvSpPr>
        <p:spPr>
          <a:xfrm>
            <a:off x="0" y="109728"/>
            <a:ext cx="9144000" cy="27432"/>
          </a:xfrm>
          <a:prstGeom prst="rect">
            <a:avLst/>
          </a:prstGeom>
          <a:solidFill>
            <a:srgbClr val="2E5FA3">
              <a:alpha val="50000"/>
            </a:srgbClr>
          </a:solidFill>
          <a:ln w="12700">
            <a:solidFill>
              <a:srgbClr val="2E5FA3"/>
            </a:solidFill>
            <a:prstDash val="solid"/>
          </a:ln>
        </p:spPr>
        <p:txBody>
          <a:bodyPr/>
          <a:lstStyle/>
          <a:p>
            <a:endParaRPr lang="es-MX"/>
          </a:p>
        </p:txBody>
      </p:sp>
      <p:sp>
        <p:nvSpPr>
          <p:cNvPr id="4" name="Text 2"/>
          <p:cNvSpPr/>
          <p:nvPr/>
        </p:nvSpPr>
        <p:spPr>
          <a:xfrm>
            <a:off x="457200" y="256032"/>
            <a:ext cx="8229600" cy="658368"/>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Conclusions</a:t>
            </a:r>
            <a:endParaRPr lang="en-US" sz="3600" dirty="0"/>
          </a:p>
        </p:txBody>
      </p:sp>
      <p:sp>
        <p:nvSpPr>
          <p:cNvPr id="5" name="Shape 3"/>
          <p:cNvSpPr/>
          <p:nvPr/>
        </p:nvSpPr>
        <p:spPr>
          <a:xfrm>
            <a:off x="457200" y="987552"/>
            <a:ext cx="8229600" cy="621792"/>
          </a:xfrm>
          <a:prstGeom prst="roundRect">
            <a:avLst>
              <a:gd name="adj" fmla="val 14706"/>
            </a:avLst>
          </a:prstGeom>
          <a:solidFill>
            <a:srgbClr val="2DC9A4">
              <a:alpha val="15000"/>
            </a:srgbClr>
          </a:solidFill>
          <a:ln w="19050">
            <a:solidFill>
              <a:srgbClr val="2DC9A4"/>
            </a:solidFill>
            <a:prstDash val="solid"/>
          </a:ln>
        </p:spPr>
        <p:txBody>
          <a:bodyPr/>
          <a:lstStyle/>
          <a:p>
            <a:endParaRPr lang="es-MX"/>
          </a:p>
        </p:txBody>
      </p:sp>
      <p:sp>
        <p:nvSpPr>
          <p:cNvPr id="6" name="Text 4"/>
          <p:cNvSpPr/>
          <p:nvPr/>
        </p:nvSpPr>
        <p:spPr>
          <a:xfrm>
            <a:off x="594360" y="1024128"/>
            <a:ext cx="7955280" cy="5486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Best feasible result:  ΔSRS = +0.021111  (DP &amp; Threshold Rule)  —  6.78 % reduction in total penalized cost</a:t>
            </a:r>
            <a:endParaRPr lang="en-US" sz="1300" dirty="0"/>
          </a:p>
        </p:txBody>
      </p:sp>
      <p:sp>
        <p:nvSpPr>
          <p:cNvPr id="7" name="Shape 5"/>
          <p:cNvSpPr/>
          <p:nvPr/>
        </p:nvSpPr>
        <p:spPr>
          <a:xfrm>
            <a:off x="457200" y="1737360"/>
            <a:ext cx="4114800" cy="1371600"/>
          </a:xfrm>
          <a:prstGeom prst="roundRect">
            <a:avLst>
              <a:gd name="adj" fmla="val 8000"/>
            </a:avLst>
          </a:prstGeom>
          <a:solidFill>
            <a:srgbClr val="0D2035"/>
          </a:solidFill>
          <a:ln w="19050">
            <a:solidFill>
              <a:srgbClr val="0E7C7B"/>
            </a:solidFill>
            <a:prstDash val="solid"/>
          </a:ln>
          <a:effectLst>
            <a:outerShdw blurRad="76200" dist="25400" dir="2700000" algn="bl" rotWithShape="0">
              <a:srgbClr val="000000">
                <a:alpha val="10000"/>
              </a:srgbClr>
            </a:outerShdw>
          </a:effectLst>
        </p:spPr>
        <p:txBody>
          <a:bodyPr/>
          <a:lstStyle/>
          <a:p>
            <a:endParaRPr lang="es-MX"/>
          </a:p>
        </p:txBody>
      </p:sp>
      <p:sp>
        <p:nvSpPr>
          <p:cNvPr id="8" name="Shape 6"/>
          <p:cNvSpPr/>
          <p:nvPr/>
        </p:nvSpPr>
        <p:spPr>
          <a:xfrm>
            <a:off x="457200" y="1737360"/>
            <a:ext cx="54864" cy="1371600"/>
          </a:xfrm>
          <a:prstGeom prst="rect">
            <a:avLst/>
          </a:prstGeom>
          <a:solidFill>
            <a:srgbClr val="0E7C7B"/>
          </a:solidFill>
          <a:ln w="12700">
            <a:solidFill>
              <a:srgbClr val="0E7C7B"/>
            </a:solidFill>
            <a:prstDash val="solid"/>
          </a:ln>
        </p:spPr>
        <p:txBody>
          <a:bodyPr/>
          <a:lstStyle/>
          <a:p>
            <a:endParaRPr lang="es-MX"/>
          </a:p>
        </p:txBody>
      </p:sp>
      <p:sp>
        <p:nvSpPr>
          <p:cNvPr id="9" name="Text 7"/>
          <p:cNvSpPr/>
          <p:nvPr/>
        </p:nvSpPr>
        <p:spPr>
          <a:xfrm>
            <a:off x="621792" y="1828800"/>
            <a:ext cx="3749040" cy="292608"/>
          </a:xfrm>
          <a:prstGeom prst="rect">
            <a:avLst/>
          </a:prstGeom>
          <a:noFill/>
          <a:ln/>
        </p:spPr>
        <p:txBody>
          <a:bodyPr wrap="square" rtlCol="0" anchor="ctr"/>
          <a:lstStyle/>
          <a:p>
            <a:pPr marL="0" indent="0">
              <a:buNone/>
            </a:pPr>
            <a:r>
              <a:rPr lang="en-US" sz="1400" b="1" dirty="0">
                <a:solidFill>
                  <a:srgbClr val="0E7C7B"/>
                </a:solidFill>
                <a:latin typeface="Georgia" pitchFamily="34" charset="0"/>
                <a:ea typeface="Georgia" pitchFamily="34" charset="-122"/>
                <a:cs typeface="Georgia" pitchFamily="34" charset="-120"/>
              </a:rPr>
              <a:t>Problem Formulation</a:t>
            </a:r>
            <a:endParaRPr lang="en-US" sz="1400" dirty="0"/>
          </a:p>
        </p:txBody>
      </p:sp>
      <p:sp>
        <p:nvSpPr>
          <p:cNvPr id="10" name="Text 8"/>
          <p:cNvSpPr/>
          <p:nvPr/>
        </p:nvSpPr>
        <p:spPr>
          <a:xfrm>
            <a:off x="621792" y="2157984"/>
            <a:ext cx="3749040" cy="914400"/>
          </a:xfrm>
          <a:prstGeom prst="rect">
            <a:avLst/>
          </a:prstGeom>
          <a:noFill/>
          <a:ln/>
        </p:spPr>
        <p:txBody>
          <a:bodyPr wrap="square" rtlCol="0" anchor="ctr"/>
          <a:lstStyle/>
          <a:p>
            <a:pPr marL="0" indent="0">
              <a:buNone/>
            </a:pPr>
            <a:r>
              <a:rPr lang="en-US" sz="1400" dirty="0">
                <a:solidFill>
                  <a:srgbClr val="CCDAE8"/>
                </a:solidFill>
                <a:latin typeface="Calibri" pitchFamily="34" charset="0"/>
                <a:ea typeface="Calibri" pitchFamily="34" charset="-122"/>
                <a:cs typeface="Calibri" pitchFamily="34" charset="-120"/>
              </a:rPr>
              <a:t>Reservoir scheduling encoded as discrete optimization over T=26 weeks × 5 levels. SRS metric with 3 penalty terms, 4 operational constraints verified.</a:t>
            </a:r>
            <a:endParaRPr lang="en-US" sz="1400" dirty="0"/>
          </a:p>
        </p:txBody>
      </p:sp>
      <p:sp>
        <p:nvSpPr>
          <p:cNvPr id="11" name="Shape 9"/>
          <p:cNvSpPr/>
          <p:nvPr/>
        </p:nvSpPr>
        <p:spPr>
          <a:xfrm>
            <a:off x="4846320" y="1737360"/>
            <a:ext cx="4114800" cy="1371600"/>
          </a:xfrm>
          <a:prstGeom prst="roundRect">
            <a:avLst>
              <a:gd name="adj" fmla="val 8000"/>
            </a:avLst>
          </a:prstGeom>
          <a:solidFill>
            <a:srgbClr val="0D2035"/>
          </a:solidFill>
          <a:ln w="19050">
            <a:solidFill>
              <a:srgbClr val="4A90C4"/>
            </a:solidFill>
            <a:prstDash val="solid"/>
          </a:ln>
          <a:effectLst>
            <a:outerShdw blurRad="76200" dist="25400" dir="2700000" algn="bl" rotWithShape="0">
              <a:srgbClr val="000000">
                <a:alpha val="10000"/>
              </a:srgbClr>
            </a:outerShdw>
          </a:effectLst>
        </p:spPr>
        <p:txBody>
          <a:bodyPr/>
          <a:lstStyle/>
          <a:p>
            <a:endParaRPr lang="es-MX"/>
          </a:p>
        </p:txBody>
      </p:sp>
      <p:sp>
        <p:nvSpPr>
          <p:cNvPr id="12" name="Shape 10"/>
          <p:cNvSpPr/>
          <p:nvPr/>
        </p:nvSpPr>
        <p:spPr>
          <a:xfrm>
            <a:off x="4846320" y="1737360"/>
            <a:ext cx="54864" cy="1371600"/>
          </a:xfrm>
          <a:prstGeom prst="rect">
            <a:avLst/>
          </a:prstGeom>
          <a:solidFill>
            <a:srgbClr val="4A90C4"/>
          </a:solidFill>
          <a:ln w="12700">
            <a:solidFill>
              <a:srgbClr val="4A90C4"/>
            </a:solidFill>
            <a:prstDash val="solid"/>
          </a:ln>
        </p:spPr>
        <p:txBody>
          <a:bodyPr/>
          <a:lstStyle/>
          <a:p>
            <a:endParaRPr lang="es-MX"/>
          </a:p>
        </p:txBody>
      </p:sp>
      <p:sp>
        <p:nvSpPr>
          <p:cNvPr id="13" name="Text 11"/>
          <p:cNvSpPr/>
          <p:nvPr/>
        </p:nvSpPr>
        <p:spPr>
          <a:xfrm>
            <a:off x="5010912" y="1828800"/>
            <a:ext cx="3749040" cy="292608"/>
          </a:xfrm>
          <a:prstGeom prst="rect">
            <a:avLst/>
          </a:prstGeom>
          <a:noFill/>
          <a:ln/>
        </p:spPr>
        <p:txBody>
          <a:bodyPr wrap="square" rtlCol="0" anchor="ctr"/>
          <a:lstStyle/>
          <a:p>
            <a:pPr marL="0" indent="0">
              <a:buNone/>
            </a:pPr>
            <a:r>
              <a:rPr lang="en-US" sz="1400" b="1" dirty="0">
                <a:solidFill>
                  <a:srgbClr val="4A90C4"/>
                </a:solidFill>
                <a:latin typeface="Georgia" pitchFamily="34" charset="0"/>
                <a:ea typeface="Georgia" pitchFamily="34" charset="-122"/>
                <a:cs typeface="Georgia" pitchFamily="34" charset="-120"/>
              </a:rPr>
              <a:t>Classical Optimum</a:t>
            </a:r>
            <a:endParaRPr lang="en-US" sz="1400" dirty="0"/>
          </a:p>
        </p:txBody>
      </p:sp>
      <p:sp>
        <p:nvSpPr>
          <p:cNvPr id="14" name="Text 12"/>
          <p:cNvSpPr/>
          <p:nvPr/>
        </p:nvSpPr>
        <p:spPr>
          <a:xfrm>
            <a:off x="5010912" y="2157984"/>
            <a:ext cx="3749040" cy="914400"/>
          </a:xfrm>
          <a:prstGeom prst="rect">
            <a:avLst/>
          </a:prstGeom>
          <a:noFill/>
          <a:ln/>
        </p:spPr>
        <p:txBody>
          <a:bodyPr wrap="square" rtlCol="0" anchor="ctr"/>
          <a:lstStyle/>
          <a:p>
            <a:pPr marL="0" indent="0">
              <a:buNone/>
            </a:pPr>
            <a:r>
              <a:rPr lang="en-US" sz="1400" dirty="0">
                <a:solidFill>
                  <a:srgbClr val="CCDAE8"/>
                </a:solidFill>
                <a:latin typeface="Calibri" pitchFamily="34" charset="0"/>
                <a:ea typeface="Calibri" pitchFamily="34" charset="-122"/>
                <a:cs typeface="Calibri" pitchFamily="34" charset="-120"/>
              </a:rPr>
              <a:t>DP finds the exact optimal within the discrete level set: u* = −Δu for 11 weeks then 0. Runtime: 0.020 s. Formally verified by brute-force at T=12.</a:t>
            </a:r>
            <a:endParaRPr lang="en-US" sz="1400" dirty="0"/>
          </a:p>
        </p:txBody>
      </p:sp>
      <p:sp>
        <p:nvSpPr>
          <p:cNvPr id="15" name="Shape 13"/>
          <p:cNvSpPr/>
          <p:nvPr/>
        </p:nvSpPr>
        <p:spPr>
          <a:xfrm>
            <a:off x="457200" y="3246120"/>
            <a:ext cx="4114800" cy="1371600"/>
          </a:xfrm>
          <a:prstGeom prst="roundRect">
            <a:avLst>
              <a:gd name="adj" fmla="val 8000"/>
            </a:avLst>
          </a:prstGeom>
          <a:solidFill>
            <a:srgbClr val="0D2035"/>
          </a:solidFill>
          <a:ln w="19050">
            <a:solidFill>
              <a:srgbClr val="2E5FA3"/>
            </a:solidFill>
            <a:prstDash val="solid"/>
          </a:ln>
          <a:effectLst>
            <a:outerShdw blurRad="76200" dist="25400" dir="2700000" algn="bl" rotWithShape="0">
              <a:srgbClr val="000000">
                <a:alpha val="10000"/>
              </a:srgbClr>
            </a:outerShdw>
          </a:effectLst>
        </p:spPr>
        <p:txBody>
          <a:bodyPr/>
          <a:lstStyle/>
          <a:p>
            <a:endParaRPr lang="es-MX"/>
          </a:p>
        </p:txBody>
      </p:sp>
      <p:sp>
        <p:nvSpPr>
          <p:cNvPr id="16" name="Shape 14"/>
          <p:cNvSpPr/>
          <p:nvPr/>
        </p:nvSpPr>
        <p:spPr>
          <a:xfrm>
            <a:off x="457200" y="3246120"/>
            <a:ext cx="54864" cy="1371600"/>
          </a:xfrm>
          <a:prstGeom prst="rect">
            <a:avLst/>
          </a:prstGeom>
          <a:solidFill>
            <a:srgbClr val="2E5FA3"/>
          </a:solidFill>
          <a:ln w="12700">
            <a:solidFill>
              <a:srgbClr val="2E5FA3"/>
            </a:solidFill>
            <a:prstDash val="solid"/>
          </a:ln>
        </p:spPr>
        <p:txBody>
          <a:bodyPr/>
          <a:lstStyle/>
          <a:p>
            <a:endParaRPr lang="es-MX"/>
          </a:p>
        </p:txBody>
      </p:sp>
      <p:sp>
        <p:nvSpPr>
          <p:cNvPr id="17" name="Text 15"/>
          <p:cNvSpPr/>
          <p:nvPr/>
        </p:nvSpPr>
        <p:spPr>
          <a:xfrm>
            <a:off x="621792" y="3337560"/>
            <a:ext cx="3749040" cy="292608"/>
          </a:xfrm>
          <a:prstGeom prst="rect">
            <a:avLst/>
          </a:prstGeom>
          <a:noFill/>
          <a:ln/>
        </p:spPr>
        <p:txBody>
          <a:bodyPr wrap="square" rtlCol="0" anchor="ctr"/>
          <a:lstStyle/>
          <a:p>
            <a:pPr marL="0" indent="0">
              <a:buNone/>
            </a:pPr>
            <a:r>
              <a:rPr lang="en-US" sz="1400" b="1" dirty="0">
                <a:solidFill>
                  <a:srgbClr val="2E5FA3"/>
                </a:solidFill>
                <a:latin typeface="Georgia" pitchFamily="34" charset="0"/>
                <a:ea typeface="Georgia" pitchFamily="34" charset="-122"/>
                <a:cs typeface="Georgia" pitchFamily="34" charset="-120"/>
              </a:rPr>
              <a:t>Scalability</a:t>
            </a:r>
            <a:endParaRPr lang="en-US" sz="1400" dirty="0"/>
          </a:p>
        </p:txBody>
      </p:sp>
      <p:sp>
        <p:nvSpPr>
          <p:cNvPr id="18" name="Text 16"/>
          <p:cNvSpPr/>
          <p:nvPr/>
        </p:nvSpPr>
        <p:spPr>
          <a:xfrm>
            <a:off x="621792" y="3666744"/>
            <a:ext cx="3749040" cy="914400"/>
          </a:xfrm>
          <a:prstGeom prst="rect">
            <a:avLst/>
          </a:prstGeom>
          <a:noFill/>
          <a:ln/>
        </p:spPr>
        <p:txBody>
          <a:bodyPr wrap="square" rtlCol="0" anchor="ctr"/>
          <a:lstStyle/>
          <a:p>
            <a:pPr marL="0" indent="0">
              <a:buNone/>
            </a:pPr>
            <a:r>
              <a:rPr lang="en-US" sz="1400" dirty="0">
                <a:solidFill>
                  <a:srgbClr val="CCDAE8"/>
                </a:solidFill>
                <a:latin typeface="Calibri" pitchFamily="34" charset="0"/>
                <a:ea typeface="Calibri" pitchFamily="34" charset="-122"/>
                <a:cs typeface="Calibri" pitchFamily="34" charset="-120"/>
              </a:rPr>
              <a:t>DP scales from 5²⁶ ≈ 10¹⁸ to 7⁵² ≈ 10⁴³ in &lt; 1.1 s. Search space grows exponentially; DP keeps runtime polynomial via cumulative-state reduction.</a:t>
            </a:r>
            <a:endParaRPr lang="en-US" sz="1400" dirty="0"/>
          </a:p>
        </p:txBody>
      </p:sp>
      <p:sp>
        <p:nvSpPr>
          <p:cNvPr id="19" name="Shape 17"/>
          <p:cNvSpPr/>
          <p:nvPr/>
        </p:nvSpPr>
        <p:spPr>
          <a:xfrm>
            <a:off x="4846320" y="3246120"/>
            <a:ext cx="4114800" cy="1371600"/>
          </a:xfrm>
          <a:prstGeom prst="roundRect">
            <a:avLst>
              <a:gd name="adj" fmla="val 8000"/>
            </a:avLst>
          </a:prstGeom>
          <a:solidFill>
            <a:srgbClr val="0D2035"/>
          </a:solidFill>
          <a:ln w="19050">
            <a:solidFill>
              <a:srgbClr val="5B7FA6"/>
            </a:solidFill>
            <a:prstDash val="solid"/>
          </a:ln>
          <a:effectLst>
            <a:outerShdw blurRad="76200" dist="25400" dir="2700000" algn="bl" rotWithShape="0">
              <a:srgbClr val="000000">
                <a:alpha val="10000"/>
              </a:srgbClr>
            </a:outerShdw>
          </a:effectLst>
        </p:spPr>
        <p:txBody>
          <a:bodyPr/>
          <a:lstStyle/>
          <a:p>
            <a:endParaRPr lang="es-MX"/>
          </a:p>
        </p:txBody>
      </p:sp>
      <p:sp>
        <p:nvSpPr>
          <p:cNvPr id="20" name="Shape 18"/>
          <p:cNvSpPr/>
          <p:nvPr/>
        </p:nvSpPr>
        <p:spPr>
          <a:xfrm>
            <a:off x="4846320" y="3246120"/>
            <a:ext cx="54864" cy="1371600"/>
          </a:xfrm>
          <a:prstGeom prst="rect">
            <a:avLst/>
          </a:prstGeom>
          <a:solidFill>
            <a:srgbClr val="5B7FA6"/>
          </a:solidFill>
          <a:ln w="12700">
            <a:solidFill>
              <a:srgbClr val="5B7FA6"/>
            </a:solidFill>
            <a:prstDash val="solid"/>
          </a:ln>
        </p:spPr>
        <p:txBody>
          <a:bodyPr/>
          <a:lstStyle/>
          <a:p>
            <a:endParaRPr lang="es-MX"/>
          </a:p>
        </p:txBody>
      </p:sp>
      <p:sp>
        <p:nvSpPr>
          <p:cNvPr id="21" name="Text 19"/>
          <p:cNvSpPr/>
          <p:nvPr/>
        </p:nvSpPr>
        <p:spPr>
          <a:xfrm>
            <a:off x="5010912" y="3337560"/>
            <a:ext cx="3749040" cy="292608"/>
          </a:xfrm>
          <a:prstGeom prst="rect">
            <a:avLst/>
          </a:prstGeom>
          <a:noFill/>
          <a:ln/>
        </p:spPr>
        <p:txBody>
          <a:bodyPr wrap="square" rtlCol="0" anchor="ctr"/>
          <a:lstStyle/>
          <a:p>
            <a:pPr marL="0" indent="0">
              <a:buNone/>
            </a:pPr>
            <a:r>
              <a:rPr lang="en-US" sz="1400" b="1" dirty="0">
                <a:solidFill>
                  <a:srgbClr val="5B7FA6"/>
                </a:solidFill>
                <a:latin typeface="Georgia" pitchFamily="34" charset="0"/>
                <a:ea typeface="Georgia" pitchFamily="34" charset="-122"/>
                <a:cs typeface="Georgia" pitchFamily="34" charset="-120"/>
              </a:rPr>
              <a:t>Limitations &amp; Next Steps</a:t>
            </a:r>
            <a:endParaRPr lang="en-US" sz="1400" dirty="0"/>
          </a:p>
        </p:txBody>
      </p:sp>
      <p:sp>
        <p:nvSpPr>
          <p:cNvPr id="22" name="Text 20"/>
          <p:cNvSpPr/>
          <p:nvPr/>
        </p:nvSpPr>
        <p:spPr>
          <a:xfrm>
            <a:off x="5010912" y="3632278"/>
            <a:ext cx="3749040" cy="914400"/>
          </a:xfrm>
          <a:prstGeom prst="rect">
            <a:avLst/>
          </a:prstGeom>
          <a:noFill/>
          <a:ln/>
        </p:spPr>
        <p:txBody>
          <a:bodyPr wrap="square" rtlCol="0" anchor="ctr"/>
          <a:lstStyle/>
          <a:p>
            <a:pPr marL="0" indent="0">
              <a:buNone/>
            </a:pPr>
            <a:r>
              <a:rPr lang="en-US" sz="1400" dirty="0">
                <a:solidFill>
                  <a:srgbClr val="CCDAE8"/>
                </a:solidFill>
                <a:latin typeface="Calibri" pitchFamily="34" charset="0"/>
                <a:ea typeface="Calibri" pitchFamily="34" charset="-122"/>
                <a:cs typeface="Calibri" pitchFamily="34" charset="-120"/>
              </a:rPr>
              <a:t>Simplified hydrological model; no treaty/legal constraints. QAOA now implemented: exact at debug scale, chunked at T26/L5 (25 qubits/block) — not yet beating DP.</a:t>
            </a:r>
            <a:endParaRPr lang="en-US" sz="1400" dirty="0"/>
          </a:p>
        </p:txBody>
      </p:sp>
      <p:sp>
        <p:nvSpPr>
          <p:cNvPr id="23" name="Shape 21"/>
          <p:cNvSpPr/>
          <p:nvPr/>
        </p:nvSpPr>
        <p:spPr>
          <a:xfrm>
            <a:off x="0" y="4937760"/>
            <a:ext cx="9144000" cy="320040"/>
          </a:xfrm>
          <a:prstGeom prst="rect">
            <a:avLst/>
          </a:prstGeom>
          <a:solidFill>
            <a:srgbClr val="050E1A"/>
          </a:solidFill>
          <a:ln w="12700">
            <a:solidFill>
              <a:srgbClr val="050E1A"/>
            </a:solidFill>
            <a:prstDash val="solid"/>
          </a:ln>
        </p:spPr>
        <p:txBody>
          <a:bodyPr/>
          <a:lstStyle/>
          <a:p>
            <a:endParaRPr lang="es-MX"/>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2093</Words>
  <Application>Microsoft Office PowerPoint</Application>
  <PresentationFormat>Presentación en pantalla (16:9)</PresentationFormat>
  <Paragraphs>320</Paragraphs>
  <Slides>12</Slides>
  <Notes>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Courier New</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Falcon Challenge — Equipo 04</dc:title>
  <dc:subject>PptxGenJS Presentation</dc:subject>
  <dc:creator>PptxGenJS</dc:creator>
  <cp:lastModifiedBy>EMILIO SOTO TECUATZIN</cp:lastModifiedBy>
  <cp:revision>8</cp:revision>
  <dcterms:created xsi:type="dcterms:W3CDTF">2026-07-01T06:31:19Z</dcterms:created>
  <dcterms:modified xsi:type="dcterms:W3CDTF">2026-07-01T17:06:53Z</dcterms:modified>
</cp:coreProperties>
</file>